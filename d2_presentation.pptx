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0" r:id="rId2"/>
  </p:sldMasterIdLst>
  <p:notesMasterIdLst>
    <p:notesMasterId r:id="rId92"/>
  </p:notesMasterIdLst>
  <p:sldIdLst>
    <p:sldId id="349" r:id="rId3"/>
    <p:sldId id="35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8" r:id="rId90"/>
    <p:sldId id="350" r:id="rId91"/>
  </p:sldIdLst>
  <p:sldSz cx="9144000" cy="6858000" type="screen4x3"/>
  <p:notesSz cx="7772400" cy="10058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Microsoft YaHei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Microsoft YaHei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Microsoft YaHei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Microsoft YaHei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Microsoft YaHei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icrosoft YaHei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icrosoft YaHei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icrosoft YaHei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icrosoft YaHei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912" autoAdjust="0"/>
    <p:restoredTop sz="94715"/>
  </p:normalViewPr>
  <p:slideViewPr>
    <p:cSldViewPr snapToGrid="0">
      <p:cViewPr varScale="1">
        <p:scale>
          <a:sx n="61" d="100"/>
          <a:sy n="61" d="100"/>
        </p:scale>
        <p:origin x="200" y="23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theme" Target="theme/theme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371600" y="763588"/>
            <a:ext cx="50292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9" name="Notes Placeholder 2"/>
          <p:cNvSpPr txBox="1">
            <a:spLocks noGrp="1" noChangeArrowheads="1"/>
          </p:cNvSpPr>
          <p:nvPr>
            <p:ph type="body" sz="quarter" idx="3"/>
          </p:nvPr>
        </p:nvSpPr>
        <p:spPr bwMode="auto">
          <a:xfrm>
            <a:off x="777875" y="4776788"/>
            <a:ext cx="62166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4100" name="Header Placeholder 3"/>
          <p:cNvSpPr txBox="1"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37343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defRPr sz="14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1" name="Date Placeholder 4"/>
          <p:cNvSpPr txBox="1">
            <a:spLocks noGrp="1" noChangeArrowheads="1"/>
          </p:cNvSpPr>
          <p:nvPr>
            <p:ph type="dt" idx="1"/>
          </p:nvPr>
        </p:nvSpPr>
        <p:spPr bwMode="auto">
          <a:xfrm>
            <a:off x="4398963" y="0"/>
            <a:ext cx="33718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4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2" name="Footer Placeholder 5"/>
          <p:cNvSpPr txBox="1">
            <a:spLocks noGrp="1" noChangeArrowheads="1"/>
          </p:cNvSpPr>
          <p:nvPr>
            <p:ph type="ftr" sz="quarter" idx="4"/>
          </p:nvPr>
        </p:nvSpPr>
        <p:spPr bwMode="auto">
          <a:xfrm>
            <a:off x="0" y="9555163"/>
            <a:ext cx="337343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>
              <a:defRPr sz="14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Slide Number Placeholder 6"/>
          <p:cNvSpPr txBox="1">
            <a:spLocks noGrp="1" noChangeArrowheads="1"/>
          </p:cNvSpPr>
          <p:nvPr>
            <p:ph type="sldNum" sz="quarter" idx="5"/>
          </p:nvPr>
        </p:nvSpPr>
        <p:spPr bwMode="auto">
          <a:xfrm>
            <a:off x="4398963" y="9555163"/>
            <a:ext cx="33718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>
              <a:defRPr sz="14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fld id="{AD94AA6B-3ABA-47DA-87CE-33CD82AE77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5682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00" indent="-2159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itchFamily="34" charset="0"/>
        <a:ea typeface="Microsoft YaHei" pitchFamily="34" charset="-122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icrosoft YaHei" pitchFamily="34" charset="-122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icrosoft YaHei" pitchFamily="34" charset="-122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icrosoft YaHei" pitchFamily="34" charset="-122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icrosoft YaHei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Holder 2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Holder 3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A4D175-F3B0-4107-B202-FEF209F2F612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6" name="Holder 4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62C77-0561-41E1-87A1-A3DA5E671A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7404703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Holder 2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Holder 3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75ECD-EA29-4C60-BB97-7FA329FBBD53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6" name="Holder 4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78CDEA-84A3-41CC-95F3-8F27A923EB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8740935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2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Holder 3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DB78C-F225-4086-9256-525EC88C048A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6" name="Holder 4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186F7A-B7B7-48D1-AE5C-33E4D2379D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1785669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4963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Holder 2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Holder 3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8D7825-0402-4C3C-90A2-2BB53533249F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7" name="Holder 4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CD6241-6338-4698-A8F9-C13F3A965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723814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Holder 2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Holder 3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5770A-9C07-4AC8-B19B-4480ABB8E987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9" name="Holder 4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64B63-D14A-4D68-A7DD-4D0A146D29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2831176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older 2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Holder 3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AB8A4E-9462-4B59-A32B-FF14B49364BC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5" name="Holder 4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AC1E6-CB94-4E3D-964E-00669913DE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2817732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Holder 3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C9B00-0154-4BE1-B64F-3C4F67AB34DB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4" name="Holder 4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3F9EFC-EF07-4857-ADCD-1D78F0F8F4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585540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2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Holder 3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7BB4C9-B0F8-4E30-840A-89C90BB046F8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7" name="Holder 4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D80128-B7C4-48EC-B4E6-B5EBDC4505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5485665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2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Holder 3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FD35C-62BE-4183-AF61-A3E5D9A53C1A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7" name="Holder 4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DD2C5-0B5F-4EE1-BC4B-6CF40DAEFE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5480241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Holder 2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Holder 3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4256B1-25D9-4EC8-AE9C-BDD969ABD0C8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6" name="Holder 4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1961A-6167-49C5-8FD5-AAE8E08CCA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201874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3050"/>
            <a:ext cx="2057400" cy="5857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9800" cy="5857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Holder 2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Holder 3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EB17A-E4F0-4369-8985-4923262F2095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6" name="Holder 4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B3FED0-3EBB-4A75-AC21-4B812E9FBE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34175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Holder 4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Holder 5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D6C8AB-2AA8-4634-9135-ABC39AA9885C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6" name="Holder 6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F2029-35AD-4979-85B9-71776324D0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1591358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Holder 4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Holder 5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BD1EE8-EB56-46EF-8475-A0084E2BD22D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6" name="Holder 6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288D4E-4785-4830-845E-5FCA58396B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9541048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Holder 5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5AEE45-9D8C-46BF-B9D2-BC9A36369B05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6" name="Holder 6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3F3B71-A7C6-4D01-AC30-66082249CB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6675046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490663"/>
            <a:ext cx="4152900" cy="3060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90663"/>
            <a:ext cx="4152900" cy="3060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Holder 4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Holder 5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B0014D-39EA-492F-A4A9-B594EAE6C631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7" name="Holder 6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7DD8E-B6C6-44D5-9F9F-4CE8DE5F8A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9764501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Holder 4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Holder 5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02C6E-6AFC-4735-B769-2444056DD15D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9" name="Holder 6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8437EB-F3E2-4C20-83C5-7D95958D54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42198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older 4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Holder 5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1B25-FBBC-451D-89D2-F574D7298FA3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5" name="Holder 6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19117-7E9C-490C-BE69-3985EC6A80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237783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Holder 5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2FD884-FFA9-4E59-B234-8A69036847B9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4" name="Holder 6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081005-36E8-478E-8B5A-F3DAC943D2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5702985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4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Holder 5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1A0F32-791C-46C2-9AA5-4D2A1ECA0CC1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7" name="Holder 6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C2DD17-0F9F-4988-83AE-EE64C71C78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172151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4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Holder 5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A694AE-51CE-4ECF-BFE1-EC1F4BA5DFB3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7" name="Holder 6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8585D-1766-4AAF-B460-F8324DE349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0576951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Holder 4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Holder 5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AA8E4-0407-4E83-A964-DAB31FC3F3F5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6" name="Holder 6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DDCE0-12F0-469C-87BF-8E02E4D305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5509232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96875"/>
            <a:ext cx="2114550" cy="41544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875"/>
            <a:ext cx="6191250" cy="41544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Holder 4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Holder 5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9C831-E3EA-484E-83F8-BFF26F94BE77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6" name="Holder 6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7121F-7037-411B-B0E4-F56EF32632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7130664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575" y="396875"/>
            <a:ext cx="8070850" cy="558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42900" y="1490663"/>
            <a:ext cx="4152900" cy="306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90663"/>
            <a:ext cx="4152900" cy="306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Holder 4"/>
          <p:cNvSpPr txBox="1"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Holder 5"/>
          <p:cNvSpPr txBox="1"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22E358-C0C2-4C3E-B03F-5094527661D3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7" name="Holder 6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9B4D1-D449-4FC0-95C5-30BD465C81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304830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bk object 16"/>
          <p:cNvSpPr>
            <a:spLocks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600"/>
              <a:gd name="T16" fmla="*/ 0 h 21600"/>
              <a:gd name="T17" fmla="*/ 21600 w 21600"/>
              <a:gd name="T18" fmla="*/ 21600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7" name="Holder 2"/>
          <p:cNvSpPr txBox="1">
            <a:spLocks noGrp="1" noChangeArrowheads="1"/>
          </p:cNvSpPr>
          <p:nvPr>
            <p:ph type="ftr" sz="quarter" idx="3"/>
          </p:nvPr>
        </p:nvSpPr>
        <p:spPr bwMode="auto">
          <a:xfrm>
            <a:off x="3108325" y="6378575"/>
            <a:ext cx="292576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defRPr sz="24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8" name="Holder 3"/>
          <p:cNvSpPr txBox="1">
            <a:spLocks noGrp="1" noChangeArrowheads="1"/>
          </p:cNvSpPr>
          <p:nvPr>
            <p:ph type="dt" sz="half" idx="2"/>
          </p:nvPr>
        </p:nvSpPr>
        <p:spPr bwMode="auto"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defRPr>
                <a:solidFill>
                  <a:srgbClr val="8B8B8B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fld id="{2AEAF448-DE4D-4BFD-BBC9-509FB8951B1C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1029" name="Holder 4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100013" y="6607175"/>
            <a:ext cx="17938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solidFill>
                  <a:srgbClr val="FFFFFF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fld id="{3B9F6CDD-36FF-4D8A-8966-BF3A029796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0" name="Title Placeholder 5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9600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1031" name="Text Placeholder 6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Microsoft YaHei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Microsoft YaHei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Microsoft YaHei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Microsoft YaHei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Microsoft YaHei" pitchFamily="34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Microsoft YaHei" pitchFamily="34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Microsoft YaHei" pitchFamily="34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Microsoft YaHei" pitchFamily="34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ts val="1413"/>
        </a:spcAft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SzPct val="100000"/>
        <a:buChar char="•"/>
        <a:defRPr sz="2400">
          <a:solidFill>
            <a:srgbClr val="000000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SzPct val="100000"/>
        <a:buChar char="•"/>
        <a:defRPr sz="2000">
          <a:solidFill>
            <a:srgbClr val="0000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SzPct val="100000"/>
        <a:buChar char="•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SzPct val="100000"/>
        <a:buChar char="•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SzPct val="100000"/>
        <a:buChar char="•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SzPct val="100000"/>
        <a:buChar char="•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SzPct val="100000"/>
        <a:buChar char="•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SzPct val="100000"/>
        <a:buChar char="•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bk object 16"/>
          <p:cNvSpPr>
            <a:spLocks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600"/>
              <a:gd name="T16" fmla="*/ 0 h 21600"/>
              <a:gd name="T17" fmla="*/ 21600 w 21600"/>
              <a:gd name="T18" fmla="*/ 21600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51" name="Holder 2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36575" y="396875"/>
            <a:ext cx="80708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the title text format</a:t>
            </a:r>
          </a:p>
        </p:txBody>
      </p:sp>
      <p:sp>
        <p:nvSpPr>
          <p:cNvPr id="2052" name="Holder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342900" y="1490663"/>
            <a:ext cx="8458200" cy="306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the outline text format</a:t>
            </a:r>
          </a:p>
          <a:p>
            <a:pPr lvl="1"/>
            <a:r>
              <a:rPr lang="en-US" altLang="en-US"/>
              <a:t>Second Outline Level</a:t>
            </a:r>
          </a:p>
          <a:p>
            <a:pPr lvl="2"/>
            <a:r>
              <a:rPr lang="en-US" altLang="en-US"/>
              <a:t>Third Outline Level</a:t>
            </a:r>
          </a:p>
          <a:p>
            <a:pPr lvl="3"/>
            <a:r>
              <a:rPr lang="en-US" altLang="en-US"/>
              <a:t>Fourth Outline Level</a:t>
            </a:r>
          </a:p>
          <a:p>
            <a:pPr lvl="4"/>
            <a:r>
              <a:rPr lang="en-US" altLang="en-US"/>
              <a:t>Fifth Outline Level</a:t>
            </a:r>
          </a:p>
          <a:p>
            <a:pPr lvl="4"/>
            <a:r>
              <a:rPr lang="en-US" altLang="en-US"/>
              <a:t>Sixth Outline Level</a:t>
            </a:r>
          </a:p>
          <a:p>
            <a:pPr lvl="4"/>
            <a:r>
              <a:rPr lang="en-US" altLang="en-US"/>
              <a:t>Seventh Outline Level</a:t>
            </a:r>
          </a:p>
          <a:p>
            <a:pPr lvl="4"/>
            <a:r>
              <a:rPr lang="en-US" altLang="en-US"/>
              <a:t>Eighth Outline Level</a:t>
            </a:r>
          </a:p>
          <a:p>
            <a:pPr lvl="4"/>
            <a:r>
              <a:rPr lang="en-US" altLang="en-US"/>
              <a:t>Ninth Outline Level</a:t>
            </a:r>
          </a:p>
        </p:txBody>
      </p:sp>
      <p:sp>
        <p:nvSpPr>
          <p:cNvPr id="2053" name="Holder 4"/>
          <p:cNvSpPr txBox="1">
            <a:spLocks noGrp="1" noChangeArrowheads="1"/>
          </p:cNvSpPr>
          <p:nvPr>
            <p:ph type="ftr" sz="quarter" idx="3"/>
          </p:nvPr>
        </p:nvSpPr>
        <p:spPr bwMode="auto">
          <a:xfrm>
            <a:off x="3108325" y="6378575"/>
            <a:ext cx="292576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defRPr sz="2400">
                <a:solidFill>
                  <a:srgbClr val="000000"/>
                </a:solidFill>
                <a:latin typeface="+mn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4" name="Holder 5"/>
          <p:cNvSpPr txBox="1">
            <a:spLocks noGrp="1" noChangeArrowheads="1"/>
          </p:cNvSpPr>
          <p:nvPr>
            <p:ph type="dt" sz="half" idx="2"/>
          </p:nvPr>
        </p:nvSpPr>
        <p:spPr bwMode="auto"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defRPr>
                <a:solidFill>
                  <a:srgbClr val="8B8B8B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fld id="{0BAF1658-3439-4F7F-B621-CB94387D049C}" type="datetime1">
              <a:rPr lang="en-US" altLang="en-US"/>
              <a:pPr>
                <a:defRPr/>
              </a:pPr>
              <a:t>4/15/26</a:t>
            </a:fld>
            <a:endParaRPr lang="en-US" altLang="en-US"/>
          </a:p>
        </p:txBody>
      </p:sp>
      <p:sp>
        <p:nvSpPr>
          <p:cNvPr id="2055" name="Holder 6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100013" y="6607175"/>
            <a:ext cx="17938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fld id="{796212F0-F424-4350-9656-96476B52FF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Tahoma" pitchFamily="34" charset="0"/>
          <a:ea typeface="Microsoft YaHei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Tahoma" pitchFamily="34" charset="0"/>
          <a:ea typeface="Microsoft YaHei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Tahoma" pitchFamily="34" charset="0"/>
          <a:ea typeface="Microsoft YaHei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Tahoma" pitchFamily="34" charset="0"/>
          <a:ea typeface="Microsoft YaHei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Tahoma" pitchFamily="34" charset="0"/>
          <a:ea typeface="Microsoft YaHei" pitchFamily="34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Tahoma" pitchFamily="34" charset="0"/>
          <a:ea typeface="Microsoft YaHei" pitchFamily="34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Tahoma" pitchFamily="34" charset="0"/>
          <a:ea typeface="Microsoft YaHei" pitchFamily="34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Tahoma" pitchFamily="34" charset="0"/>
          <a:ea typeface="Microsoft YaHei" pitchFamily="34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ts val="1413"/>
        </a:spcAft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ts val="1413"/>
        </a:spcAft>
        <a:buSzPct val="75000"/>
        <a:buFont typeface="StarSymbol"/>
        <a:buChar char="–"/>
        <a:defRPr sz="2400">
          <a:solidFill>
            <a:srgbClr val="0000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0"/>
        </a:spcBef>
        <a:spcAft>
          <a:spcPts val="1413"/>
        </a:spcAft>
        <a:buSzPct val="75000"/>
        <a:buFont typeface="StarSymbol"/>
        <a:buChar char="●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0"/>
        </a:spcBef>
        <a:spcAft>
          <a:spcPts val="1413"/>
        </a:spcAft>
        <a:buSzPct val="75000"/>
        <a:buFont typeface="StarSymbol"/>
        <a:buChar char="–"/>
        <a:defRPr sz="2400">
          <a:solidFill>
            <a:srgbClr val="000000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0"/>
        </a:spcBef>
        <a:spcAft>
          <a:spcPts val="1413"/>
        </a:spcAft>
        <a:buSzPct val="75000"/>
        <a:buFont typeface="StarSymbol"/>
        <a:buChar char="●"/>
        <a:defRPr sz="2400">
          <a:solidFill>
            <a:srgbClr val="000000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0"/>
        </a:spcBef>
        <a:spcAft>
          <a:spcPts val="1413"/>
        </a:spcAft>
        <a:buSzPct val="75000"/>
        <a:buFont typeface="StarSymbol"/>
        <a:buChar char="●"/>
        <a:defRPr sz="2400">
          <a:solidFill>
            <a:srgbClr val="000000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0"/>
        </a:spcBef>
        <a:spcAft>
          <a:spcPts val="1413"/>
        </a:spcAft>
        <a:buSzPct val="75000"/>
        <a:buFont typeface="StarSymbol"/>
        <a:buChar char="●"/>
        <a:defRPr sz="2400">
          <a:solidFill>
            <a:srgbClr val="000000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0"/>
        </a:spcBef>
        <a:spcAft>
          <a:spcPts val="1413"/>
        </a:spcAft>
        <a:buSzPct val="75000"/>
        <a:buFont typeface="StarSymbol"/>
        <a:buChar char="●"/>
        <a:defRPr sz="2400">
          <a:solidFill>
            <a:srgbClr val="000000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0"/>
        </a:spcBef>
        <a:spcAft>
          <a:spcPts val="1413"/>
        </a:spcAft>
        <a:buSzPct val="75000"/>
        <a:buFont typeface="StarSymbol"/>
        <a:buChar char="●"/>
        <a:defRPr sz="24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nicman674/PC_Hardware_Diagnostic_Expert_System_Stacey_Makary_Oktoro_COMP474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nicman674/PC_Hardware_Diagnostic_Expert_System_Stacey_Makary_Oktoro_COMP474" TargetMode="Externa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hyperlink" Target="https://h10032.www1.hp.com/ctg/Manual/c00189283.pdf" TargetMode="External"/><Relationship Id="rId3" Type="http://schemas.openxmlformats.org/officeDocument/2006/relationships/hyperlink" Target="https://www.clipsrules.net/documentation/v642/ug642.pdf" TargetMode="External"/><Relationship Id="rId7" Type="http://schemas.openxmlformats.org/officeDocument/2006/relationships/hyperlink" Target="https://crystalmark.info/en/software/crystaldiskinfo/" TargetMode="External"/><Relationship Id="rId2" Type="http://schemas.openxmlformats.org/officeDocument/2006/relationships/hyperlink" Target="https://www.clipsrules.net/documentation/v642/ig642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emtest86.com/technical.htm" TargetMode="External"/><Relationship Id="rId5" Type="http://schemas.openxmlformats.org/officeDocument/2006/relationships/hyperlink" Target="https://www.corsair.com/ca/en/explorer/diy-builder/power-supply-units/how-to-test-a-psu-power-supply-unit/?srsltid=AfmBOorw2poPsa2xrylx9dER60jnG0xP9v9yaM8HBx_MZT8U19JaHUei" TargetMode="External"/><Relationship Id="rId10" Type="http://schemas.openxmlformats.org/officeDocument/2006/relationships/hyperlink" Target="https://www.wagnardsoft.com/display-driver-uninstaller-DDU-" TargetMode="External"/><Relationship Id="rId4" Type="http://schemas.openxmlformats.org/officeDocument/2006/relationships/hyperlink" Target="https://www.clipsrules.net/documentation/v642/bpg642.pdf" TargetMode="External"/><Relationship Id="rId9" Type="http://schemas.openxmlformats.org/officeDocument/2006/relationships/hyperlink" Target="https://www.dell.com/support/kbdoc/en-ca/000124349/understanding-beep-codes-on-a-dell-desktop-pc" TargetMode="Externa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ubtitle 3"/>
          <p:cNvSpPr txBox="1">
            <a:spLocks noGrp="1" noChangeArrowheads="1"/>
          </p:cNvSpPr>
          <p:nvPr>
            <p:ph type="subTitle" idx="4294967295"/>
          </p:nvPr>
        </p:nvSpPr>
        <p:spPr>
          <a:xfrm>
            <a:off x="1379437" y="2098675"/>
            <a:ext cx="6683583" cy="2663825"/>
          </a:xfrm>
        </p:spPr>
        <p:txBody>
          <a:bodyPr anchorCtr="1"/>
          <a:lstStyle/>
          <a:p>
            <a:pPr marL="0" indent="0" algn="ctr">
              <a:buFontTx/>
              <a:buNone/>
            </a:pPr>
            <a:r>
              <a:rPr lang="en-US" altLang="en-US" sz="2200" dirty="0">
                <a:latin typeface="Tahoma" pitchFamily="34" charset="0"/>
                <a:cs typeface="Tahoma" pitchFamily="34" charset="0"/>
              </a:rPr>
              <a:t>Robert Stacey  •  Victor Okoro  •  David Makary</a:t>
            </a:r>
            <a:endParaRPr lang="en-US" dirty="0"/>
          </a:p>
          <a:p>
            <a:pPr marL="0" indent="0" algn="ctr"/>
            <a:endParaRPr lang="en-US" altLang="en-US" sz="2400" dirty="0">
              <a:latin typeface="Tahoma" pitchFamily="34" charset="0"/>
              <a:cs typeface="Tahoma" pitchFamily="34" charset="0"/>
            </a:endParaRPr>
          </a:p>
          <a:p>
            <a:pPr algn="ctr"/>
            <a:r>
              <a:rPr sz="1800" dirty="0">
                <a:solidFill>
                  <a:srgbClr val="555555"/>
                </a:solidFill>
                <a:latin typeface="Tahoma"/>
              </a:rPr>
              <a:t>COMP 474/6741 </a:t>
            </a:r>
            <a:r>
              <a:rPr lang="en-CA" sz="1800" dirty="0">
                <a:solidFill>
                  <a:srgbClr val="555555"/>
                </a:solidFill>
                <a:latin typeface="Tahoma"/>
              </a:rPr>
              <a:t>-</a:t>
            </a:r>
            <a:r>
              <a:rPr sz="1800" dirty="0">
                <a:solidFill>
                  <a:srgbClr val="555555"/>
                </a:solidFill>
                <a:latin typeface="Tahoma"/>
              </a:rPr>
              <a:t> Intelligent Systems  |  Winter 2026</a:t>
            </a:r>
          </a:p>
          <a:p>
            <a:pPr algn="ctr"/>
            <a:r>
              <a:rPr sz="1600" dirty="0">
                <a:solidFill>
                  <a:srgbClr val="555555"/>
                </a:solidFill>
                <a:latin typeface="Tahoma"/>
              </a:rPr>
              <a:t>Concordia University</a:t>
            </a:r>
          </a:p>
        </p:txBody>
      </p:sp>
      <p:sp>
        <p:nvSpPr>
          <p:cNvPr id="3075" name="object 7"/>
          <p:cNvSpPr>
            <a:spLocks noChangeArrowheads="1"/>
          </p:cNvSpPr>
          <p:nvPr/>
        </p:nvSpPr>
        <p:spPr bwMode="auto">
          <a:xfrm>
            <a:off x="3486150" y="5641975"/>
            <a:ext cx="2297113" cy="30797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1113">
              <a:spcAft>
                <a:spcPts val="1413"/>
              </a:spcAft>
              <a:buChar char="•"/>
              <a:defRPr sz="32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4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9pPr>
          </a:lstStyle>
          <a:p>
            <a:pPr algn="ctr" eaLnBrk="1">
              <a:spcAft>
                <a:spcPct val="0"/>
              </a:spcAft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Tahoma" pitchFamily="34" charset="0"/>
              </a:rPr>
              <a:t>April 15, 2026</a:t>
            </a:r>
          </a:p>
        </p:txBody>
      </p:sp>
      <p:sp>
        <p:nvSpPr>
          <p:cNvPr id="3076" name="object 5"/>
          <p:cNvSpPr>
            <a:spLocks/>
          </p:cNvSpPr>
          <p:nvPr/>
        </p:nvSpPr>
        <p:spPr bwMode="auto">
          <a:xfrm>
            <a:off x="303213" y="104775"/>
            <a:ext cx="8662987" cy="812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600"/>
              <a:gd name="T16" fmla="*/ 0 h 21600"/>
              <a:gd name="T17" fmla="*/ 21600 w 21600"/>
              <a:gd name="T18" fmla="*/ 21600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7" name="object 7"/>
          <p:cNvSpPr txBox="1">
            <a:spLocks noChangeArrowheads="1"/>
          </p:cNvSpPr>
          <p:nvPr/>
        </p:nvSpPr>
        <p:spPr bwMode="auto">
          <a:xfrm>
            <a:off x="588963" y="238125"/>
            <a:ext cx="809148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>
            <a:spAutoFit/>
          </a:bodyPr>
          <a:lstStyle>
            <a:lvl1pPr marL="11113">
              <a:spcAft>
                <a:spcPts val="1413"/>
              </a:spcAft>
              <a:buChar char="•"/>
              <a:defRPr sz="32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4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Microsoft YaHei" pitchFamily="34" charset="-122"/>
              </a:defRPr>
            </a:lvl9pPr>
          </a:lstStyle>
          <a:p>
            <a:pPr algn="ctr" eaLnBrk="1">
              <a:spcAft>
                <a:spcPct val="0"/>
              </a:spcAft>
              <a:buFontTx/>
              <a:buNone/>
            </a:pPr>
            <a:r>
              <a:rPr lang="en-US" altLang="en-US" sz="360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PC Hardware Diagnostic Expert System</a:t>
            </a:r>
            <a:endParaRPr lang="en-US" altLang="en-US" sz="2800">
              <a:solidFill>
                <a:srgbClr val="FFFFFF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object 5"/>
          <p:cNvSpPr>
            <a:spLocks/>
          </p:cNvSpPr>
          <p:nvPr/>
        </p:nvSpPr>
        <p:spPr bwMode="auto">
          <a:xfrm>
            <a:off x="303213" y="104775"/>
            <a:ext cx="8662987" cy="812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600"/>
              <a:gd name="T16" fmla="*/ 0 h 21600"/>
              <a:gd name="T17" fmla="*/ 21600 w 21600"/>
              <a:gd name="T18" fmla="*/ 21600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303213" y="1336675"/>
            <a:ext cx="8662987" cy="460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4997" rIns="90004" bIns="44997">
            <a:spAutoFit/>
          </a:bodyPr>
          <a:lstStyle>
            <a:lvl1pPr>
              <a:spcAft>
                <a:spcPts val="1413"/>
              </a:spcAft>
              <a:buChar char="•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1pPr>
            <a:lvl2pPr marL="742950" indent="-285750">
              <a:spcAft>
                <a:spcPts val="1413"/>
              </a:spcAft>
              <a:buSzPct val="75000"/>
              <a:buFont typeface="StarSymbol"/>
              <a:buChar char="–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2pPr>
            <a:lvl3pPr marL="1143000" indent="-228600"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3pPr>
            <a:lvl4pPr marL="1600200" indent="-228600">
              <a:spcAft>
                <a:spcPts val="1413"/>
              </a:spcAft>
              <a:buSzPct val="75000"/>
              <a:buFont typeface="StarSymbol"/>
              <a:buChar char="–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4pPr>
            <a:lvl5pPr marL="2057400" indent="-228600"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9pPr>
          </a:lstStyle>
          <a:p>
            <a:pPr algn="just" eaLnBrk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1C1C1C"/>
                </a:solidFill>
                <a:latin typeface="Tahoma" pitchFamily="34" charset="0"/>
                <a:cs typeface="Tahoma" pitchFamily="34" charset="0"/>
              </a:rPr>
              <a:t>Agenda</a:t>
            </a:r>
          </a:p>
          <a:p>
            <a:pPr algn="just" eaLnBrk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1C1C1C"/>
                </a:solidFill>
                <a:latin typeface="Tahoma" pitchFamily="34" charset="0"/>
                <a:cs typeface="Tahoma" pitchFamily="34" charset="0"/>
              </a:rPr>
              <a:t>1. Project Overview and Submission Details</a:t>
            </a:r>
          </a:p>
          <a:p>
            <a:pPr algn="just" eaLnBrk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1C1C1C"/>
                </a:solidFill>
                <a:latin typeface="Tahoma" pitchFamily="34" charset="0"/>
                <a:cs typeface="Tahoma" pitchFamily="34" charset="0"/>
              </a:rPr>
              <a:t>2. D2 TODO 1 - D1 Feedback and Improvements Made</a:t>
            </a:r>
          </a:p>
          <a:p>
            <a:pPr algn="just" eaLnBrk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1C1C1C"/>
                </a:solidFill>
                <a:latin typeface="Tahoma" pitchFamily="34" charset="0"/>
                <a:cs typeface="Tahoma" pitchFamily="34" charset="0"/>
              </a:rPr>
              <a:t>3. Knowledge Base Structure (Templates, Facts, Rules, Code)</a:t>
            </a:r>
          </a:p>
          <a:p>
            <a:pPr algn="just" eaLnBrk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1C1C1C"/>
                </a:solidFill>
                <a:latin typeface="Tahoma" pitchFamily="34" charset="0"/>
                <a:cs typeface="Tahoma" pitchFamily="34" charset="0"/>
              </a:rPr>
              <a:t>4. Complete Knowledge-Base Inventories</a:t>
            </a:r>
          </a:p>
          <a:p>
            <a:pPr algn="just" eaLnBrk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1C1C1C"/>
                </a:solidFill>
                <a:latin typeface="Tahoma" pitchFamily="34" charset="0"/>
                <a:cs typeface="Tahoma" pitchFamily="34" charset="0"/>
              </a:rPr>
              <a:t>5. D2 TODO 2 - Probabilistic Uncertainty (Certainty Factors)</a:t>
            </a:r>
          </a:p>
          <a:p>
            <a:pPr algn="just" eaLnBrk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1C1C1C"/>
                </a:solidFill>
                <a:latin typeface="Tahoma" pitchFamily="34" charset="0"/>
                <a:cs typeface="Tahoma" pitchFamily="34" charset="0"/>
              </a:rPr>
              <a:t>6. D2 TODO 3 - Possibilistic Uncertainty (Fuzzy Logic)</a:t>
            </a:r>
          </a:p>
          <a:p>
            <a:pPr algn="just" eaLnBrk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1C1C1C"/>
                </a:solidFill>
                <a:latin typeface="Tahoma" pitchFamily="34" charset="0"/>
                <a:cs typeface="Tahoma" pitchFamily="34" charset="0"/>
              </a:rPr>
              <a:t>7. D2 TODO 4 - Quality Attributes and Guidelines</a:t>
            </a:r>
          </a:p>
          <a:p>
            <a:pPr algn="just" eaLnBrk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1C1C1C"/>
                </a:solidFill>
                <a:latin typeface="Tahoma" pitchFamily="34" charset="0"/>
                <a:cs typeface="Tahoma" pitchFamily="34" charset="0"/>
              </a:rPr>
              <a:t>8. Interactive Driver</a:t>
            </a:r>
          </a:p>
          <a:p>
            <a:pPr algn="just" eaLnBrk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1C1C1C"/>
                </a:solidFill>
                <a:latin typeface="Tahoma" pitchFamily="34" charset="0"/>
                <a:cs typeface="Tahoma" pitchFamily="34" charset="0"/>
              </a:rPr>
              <a:t>9. Validation and Verification (22 Test Scenarios)</a:t>
            </a:r>
          </a:p>
          <a:p>
            <a:pPr algn="just" eaLnBrk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1C1C1C"/>
                </a:solidFill>
                <a:latin typeface="Tahoma" pitchFamily="34" charset="0"/>
                <a:cs typeface="Tahoma" pitchFamily="34" charset="0"/>
              </a:rPr>
              <a:t>10. References</a:t>
            </a:r>
          </a:p>
        </p:txBody>
      </p:sp>
      <p:sp>
        <p:nvSpPr>
          <p:cNvPr id="4100" name="object 7"/>
          <p:cNvSpPr txBox="1">
            <a:spLocks noChangeArrowheads="1"/>
          </p:cNvSpPr>
          <p:nvPr/>
        </p:nvSpPr>
        <p:spPr bwMode="auto">
          <a:xfrm>
            <a:off x="588963" y="238125"/>
            <a:ext cx="809148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>
            <a:spAutoFit/>
          </a:bodyPr>
          <a:lstStyle>
            <a:lvl1pPr marL="11113">
              <a:spcAft>
                <a:spcPts val="1413"/>
              </a:spcAft>
              <a:buChar char="•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1pPr>
            <a:lvl2pPr marL="685800" indent="-228600">
              <a:spcAft>
                <a:spcPts val="1413"/>
              </a:spcAft>
              <a:buSzPct val="75000"/>
              <a:buFont typeface="StarSymbol"/>
              <a:buChar char="–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2pPr>
            <a:lvl3pPr marL="1143000" indent="-228600"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3pPr>
            <a:lvl4pPr marL="1600200" indent="-228600">
              <a:spcAft>
                <a:spcPts val="1413"/>
              </a:spcAft>
              <a:buSzPct val="75000"/>
              <a:buFont typeface="StarSymbol"/>
              <a:buChar char="–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4pPr>
            <a:lvl5pPr marL="2057400" indent="-228600"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9pPr>
          </a:lstStyle>
          <a:p>
            <a:pPr algn="ctr" eaLnBrk="1">
              <a:spcAft>
                <a:spcPct val="0"/>
              </a:spcAft>
              <a:buFontTx/>
              <a:buNone/>
            </a:pPr>
            <a:r>
              <a:rPr lang="en-US" altLang="en-US" sz="360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Agenda</a:t>
            </a:r>
            <a:endParaRPr lang="en-US" altLang="en-US" sz="2800">
              <a:solidFill>
                <a:srgbClr val="FFFFFF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Domain: personal computer hardware diagnostics</a:t>
            </a:r>
          </a:p>
          <a:p>
            <a:pPr>
              <a:defRPr sz="1800"/>
            </a:pPr>
            <a:r>
              <a:t>Modules: power and motherboard, display and graphics, memory, storage</a:t>
            </a:r>
          </a:p>
          <a:p>
            <a:pPr>
              <a:defRPr sz="1800"/>
            </a:pPr>
            <a:r>
              <a:t>Deliverable 1 established the certain-knowledge baseline in CLIPS</a:t>
            </a:r>
          </a:p>
          <a:p>
            <a:pPr>
              <a:defRPr sz="1800"/>
            </a:pPr>
            <a:r>
              <a:t>Deliverable 2 extends the system with uncertain knowledge</a:t>
            </a:r>
          </a:p>
          <a:p>
            <a:pPr>
              <a:defRPr sz="1800"/>
            </a:pPr>
            <a:r>
              <a:t>Two theories added: Certainty Factors (probabilistic) and Fuzzy Logic (possibilistic)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Administrative and 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604963"/>
            <a:ext cx="8229599" cy="4525962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dirty="0"/>
              <a:t>Repository details</a:t>
            </a:r>
          </a:p>
          <a:p>
            <a:pPr lvl="1">
              <a:defRPr sz="1800"/>
            </a:pPr>
            <a:r>
              <a:rPr dirty="0"/>
              <a:t>GitHub username: sonicman674</a:t>
            </a:r>
          </a:p>
          <a:p>
            <a:pPr lvl="1">
              <a:defRPr sz="1800"/>
            </a:pPr>
            <a:r>
              <a:rPr dirty="0"/>
              <a:t>Repository URL: </a:t>
            </a:r>
            <a:r>
              <a:rPr lang="en-CA" dirty="0">
                <a:hlinkClick r:id="rId2"/>
              </a:rPr>
              <a:t>https://github.com/sonicman674/PC_Hardware_Diagnostic_Expert_System_Stacey_Makary_Oktoro_COMP474</a:t>
            </a:r>
            <a:endParaRPr lang="en-CA" dirty="0"/>
          </a:p>
          <a:p>
            <a:pPr lvl="1">
              <a:defRPr sz="1800"/>
            </a:pPr>
            <a:r>
              <a:rPr dirty="0"/>
              <a:t>Canonical project title: PC Hardware Diagnostic Expert System</a:t>
            </a:r>
            <a:endParaRPr lang="en-CA" dirty="0"/>
          </a:p>
          <a:p>
            <a:pPr marL="0" indent="0">
              <a:buNone/>
              <a:defRPr sz="1800"/>
            </a:pPr>
            <a:endParaRPr lang="en-CA" dirty="0"/>
          </a:p>
          <a:p>
            <a:pPr marL="0" indent="0">
              <a:buNone/>
              <a:defRPr sz="1800"/>
            </a:pPr>
            <a:r>
              <a:rPr lang="en-CA" dirty="0"/>
              <a:t>Evaluator access notes</a:t>
            </a:r>
          </a:p>
          <a:p>
            <a:pPr lvl="1">
              <a:defRPr sz="1800"/>
            </a:pPr>
            <a:r>
              <a:rPr lang="en-CA" dirty="0"/>
              <a:t>Deliverable source artifacts are stored at the repository root</a:t>
            </a:r>
          </a:p>
          <a:p>
            <a:pPr lvl="1">
              <a:defRPr sz="1800"/>
            </a:pPr>
            <a:r>
              <a:rPr lang="en-CA" dirty="0"/>
              <a:t>Key grading files: </a:t>
            </a:r>
            <a:r>
              <a:rPr lang="en-CA" dirty="0" err="1"/>
              <a:t>facts.txt</a:t>
            </a:r>
            <a:r>
              <a:rPr lang="en-CA" dirty="0"/>
              <a:t>, </a:t>
            </a:r>
            <a:r>
              <a:rPr lang="en-CA" dirty="0" err="1"/>
              <a:t>rules.txt</a:t>
            </a:r>
            <a:r>
              <a:rPr lang="en-CA" dirty="0"/>
              <a:t>, </a:t>
            </a:r>
            <a:r>
              <a:rPr lang="en-CA" dirty="0" err="1"/>
              <a:t>driver.clp</a:t>
            </a:r>
            <a:r>
              <a:rPr lang="en-CA" dirty="0"/>
              <a:t>, </a:t>
            </a:r>
            <a:r>
              <a:rPr lang="en-CA" dirty="0" err="1"/>
              <a:t>design.txt</a:t>
            </a:r>
            <a:r>
              <a:rPr lang="en-CA" dirty="0"/>
              <a:t>, test-</a:t>
            </a:r>
            <a:r>
              <a:rPr lang="en-CA" dirty="0" err="1"/>
              <a:t>cases.txt</a:t>
            </a:r>
            <a:r>
              <a:rPr lang="en-CA" dirty="0"/>
              <a:t>, </a:t>
            </a:r>
            <a:r>
              <a:rPr lang="en-CA" dirty="0" err="1"/>
              <a:t>README.md</a:t>
            </a:r>
            <a:endParaRPr lang="en-CA" dirty="0"/>
          </a:p>
          <a:p>
            <a:pPr lvl="1">
              <a:defRPr sz="1800"/>
            </a:pPr>
            <a:r>
              <a:rPr lang="en-CA" dirty="0"/>
              <a:t>The repository URL should be included in the final submission</a:t>
            </a:r>
          </a:p>
          <a:p>
            <a:pPr lvl="1"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This PowerPoint is the main submitted documentation artifact for Deliverable 2.</a:t>
            </a:r>
          </a:p>
          <a:p>
            <a:pPr>
              <a:defRPr sz="1700"/>
            </a:pPr>
            <a:r>
              <a:rPr dirty="0"/>
              <a:t>It includes the project context, D1 feedback, D2 implementation details, formulas, complete fact and rule inventories with actual numeric values, representative CLIPS code, testing procedures with commands, GitHub details, and references.</a:t>
            </a:r>
          </a:p>
          <a:p>
            <a:pPr>
              <a:defRPr sz="1700"/>
            </a:pPr>
            <a:r>
              <a:rPr dirty="0"/>
              <a:t>The codebase can be consulted for independent verification, but this deck is written so the evaluator can fully understand the project without opening the repository.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Domain, Goal, and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Knowledge domain</a:t>
            </a:r>
          </a:p>
          <a:p>
            <a:pPr lvl="1">
              <a:defRPr sz="1800"/>
            </a:pPr>
            <a:r>
              <a:rPr dirty="0"/>
              <a:t>PC hardware failures observable during troubleshooting</a:t>
            </a:r>
          </a:p>
          <a:p>
            <a:pPr lvl="1">
              <a:defRPr sz="1800"/>
            </a:pPr>
            <a:r>
              <a:rPr dirty="0"/>
              <a:t>Power, display, memory, and storage faults</a:t>
            </a:r>
          </a:p>
          <a:p>
            <a:pPr lvl="1">
              <a:defRPr sz="1800"/>
            </a:pPr>
            <a:r>
              <a:rPr dirty="0"/>
              <a:t>Authoritative vendor and diagnostic references exist</a:t>
            </a:r>
            <a:endParaRPr lang="en-CA" dirty="0"/>
          </a:p>
          <a:p>
            <a:pPr lvl="1">
              <a:defRPr sz="1800"/>
            </a:pPr>
            <a:endParaRPr dirty="0"/>
          </a:p>
          <a:p>
            <a:pPr>
              <a:defRPr sz="1800"/>
            </a:pPr>
            <a:r>
              <a:rPr dirty="0"/>
              <a:t>Goal</a:t>
            </a:r>
          </a:p>
          <a:p>
            <a:pPr lvl="1">
              <a:defRPr sz="1800"/>
            </a:pPr>
            <a:r>
              <a:rPr dirty="0"/>
              <a:t>Diagnose likely hardware failures and suggest next-step actions</a:t>
            </a:r>
          </a:p>
          <a:p>
            <a:pPr lvl="1">
              <a:defRPr sz="1800"/>
            </a:pPr>
            <a:r>
              <a:rPr dirty="0"/>
              <a:t>Build an explainable, modular, testable CLIPS expert system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Primary user</a:t>
            </a:r>
          </a:p>
          <a:p>
            <a:pPr lvl="1">
              <a:defRPr sz="1800"/>
            </a:pPr>
            <a:r>
              <a:rPr dirty="0"/>
              <a:t>Home PC builder or troubleshooting hobbyist</a:t>
            </a:r>
          </a:p>
          <a:p>
            <a:pPr lvl="1">
              <a:defRPr sz="1800"/>
            </a:pPr>
            <a:r>
              <a:rPr dirty="0"/>
              <a:t>Understands basic components but not obscure failure interactions</a:t>
            </a:r>
          </a:p>
          <a:p>
            <a:pPr lvl="1">
              <a:defRPr sz="1800"/>
            </a:pPr>
            <a:r>
              <a:rPr dirty="0"/>
              <a:t>Needs guidance before replacing expensive hardware</a:t>
            </a:r>
            <a:endParaRPr lang="en-CA" dirty="0"/>
          </a:p>
          <a:p>
            <a:pPr lvl="1">
              <a:defRPr sz="1800"/>
            </a:pPr>
            <a:endParaRPr dirty="0"/>
          </a:p>
          <a:p>
            <a:pPr>
              <a:defRPr sz="1800"/>
            </a:pPr>
            <a:r>
              <a:rPr dirty="0"/>
              <a:t>Why this domain matters</a:t>
            </a:r>
          </a:p>
          <a:p>
            <a:pPr lvl="1">
              <a:defRPr sz="1800"/>
            </a:pPr>
            <a:r>
              <a:rPr dirty="0"/>
              <a:t>Practical, common, and useful to many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and SMART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Goal: build a CLIPS expert system that helps users identify likely PC hardware failures and next-step actions.</a:t>
            </a:r>
          </a:p>
          <a:p>
            <a:pPr>
              <a:defRPr sz="1700"/>
            </a:pPr>
            <a:r>
              <a:t>Specific: focuses on desktop hardware diagnosis rather than general IT troubleshooting.</a:t>
            </a:r>
          </a:p>
          <a:p>
            <a:pPr>
              <a:defRPr sz="1700"/>
            </a:pPr>
            <a:r>
              <a:t>Measurable: the project is supported by a non-trivial knowledge base with many facts, rules, and diagnosable scenarios.</a:t>
            </a:r>
          </a:p>
          <a:p>
            <a:pPr>
              <a:defRPr sz="1700"/>
            </a:pPr>
            <a:r>
              <a:t>Achievable: scope is limited to selected modules and implemented incrementally.</a:t>
            </a:r>
          </a:p>
          <a:p>
            <a:pPr>
              <a:defRPr sz="1700"/>
            </a:pPr>
            <a:r>
              <a:t>Relevant: PC troubleshooting is a real and useful application domain.</a:t>
            </a:r>
          </a:p>
          <a:p>
            <a:pPr>
              <a:defRPr sz="1700"/>
            </a:pPr>
            <a:r>
              <a:t>Time-bound: the system was developed across Deliverable 1 and Deliverable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Individual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Robert Stacey: power and motherboard diagnostics </a:t>
            </a:r>
            <a:r>
              <a:rPr lang="en-CA" dirty="0"/>
              <a:t>-</a:t>
            </a:r>
            <a:r>
              <a:rPr dirty="0"/>
              <a:t> symptoms, failure scenarios, crisp indicators, CF evidence, rules, and fuzzy variables for CPU temperature and voltage stability.</a:t>
            </a:r>
          </a:p>
          <a:p>
            <a:pPr>
              <a:defRPr sz="1700"/>
            </a:pPr>
            <a:r>
              <a:rPr dirty="0"/>
              <a:t>Victor Okoro: display and graphics diagnostics </a:t>
            </a:r>
            <a:r>
              <a:rPr lang="en-CA" dirty="0"/>
              <a:t>-</a:t>
            </a:r>
            <a:r>
              <a:rPr dirty="0"/>
              <a:t> symptoms, failure scenarios, crisp indicators, CF evidence, rules, and fuzzy variables for GPU temperature.</a:t>
            </a:r>
          </a:p>
          <a:p>
            <a:pPr>
              <a:defRPr sz="1700"/>
            </a:pPr>
            <a:r>
              <a:rPr dirty="0"/>
              <a:t>David Makary: memory and storage diagnostics </a:t>
            </a:r>
            <a:r>
              <a:rPr lang="en-CA" dirty="0"/>
              <a:t>-</a:t>
            </a:r>
            <a:r>
              <a:rPr dirty="0"/>
              <a:t> symptoms, failure scenarios, crisp indicators, CF evidence, rules, and fuzzy variables for storage health and boot time.</a:t>
            </a:r>
          </a:p>
          <a:p>
            <a:pPr>
              <a:defRPr sz="1700"/>
            </a:pPr>
            <a:r>
              <a:rPr dirty="0"/>
              <a:t>All team members contributed to design, testing, documentation, and review across both deliverables.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1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Deliverable 1 implemented the expert system in CLIPS using separate factbase and rulebase files</a:t>
            </a:r>
          </a:p>
          <a:p>
            <a:pPr>
              <a:defRPr sz="1800"/>
            </a:pPr>
            <a:r>
              <a:t>Core files: facts.txt, rules.txt, driver.clp, design.txt, test-cases.txt</a:t>
            </a:r>
          </a:p>
          <a:p>
            <a:pPr>
              <a:defRPr sz="1800"/>
            </a:pPr>
            <a:r>
              <a:t>The baseline system used symbolic certainty labels such as strong, moderate, and weak</a:t>
            </a:r>
          </a:p>
          <a:p>
            <a:pPr>
              <a:defRPr sz="1800"/>
            </a:pPr>
            <a:r>
              <a:t>Deliverable 2 retains this crisp layer as the explainable baseline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1 Baseline: Strengths and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700"/>
            </a:pPr>
            <a:r>
              <a:t>Strengths retained in D2</a:t>
            </a:r>
          </a:p>
          <a:p>
            <a:pPr lvl="1">
              <a:defRPr sz="1700"/>
            </a:pPr>
            <a:r>
              <a:t>Separated factbase and rulebase</a:t>
            </a:r>
          </a:p>
          <a:p>
            <a:pPr lvl="1">
              <a:defRPr sz="1700"/>
            </a:pPr>
            <a:r>
              <a:t>Modular organization by hardware domain</a:t>
            </a:r>
          </a:p>
          <a:p>
            <a:pPr lvl="1">
              <a:defRPr sz="1700"/>
            </a:pPr>
            <a:r>
              <a:t>Interactive driver</a:t>
            </a:r>
          </a:p>
          <a:p>
            <a:pPr lvl="1">
              <a:defRPr sz="1700"/>
            </a:pPr>
            <a:r>
              <a:t>Debugging support through CLIPS watch commands</a:t>
            </a:r>
          </a:p>
          <a:p>
            <a:pPr lvl="1">
              <a:defRPr sz="1700"/>
            </a:pPr>
            <a:r>
              <a:t>Structured English and logic description in design.txt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1700"/>
            </a:pPr>
            <a:r>
              <a:t>Main limits identified after D1</a:t>
            </a:r>
          </a:p>
          <a:p>
            <a:pPr lvl="1">
              <a:defRPr sz="1700"/>
            </a:pPr>
            <a:r>
              <a:t>Only symbolic certainty labels</a:t>
            </a:r>
          </a:p>
          <a:p>
            <a:pPr lvl="1">
              <a:defRPr sz="1700"/>
            </a:pPr>
            <a:r>
              <a:t>Weak reasoning trace in conclusions</a:t>
            </a:r>
          </a:p>
          <a:p>
            <a:pPr lvl="1">
              <a:defRPr sz="1700"/>
            </a:pPr>
            <a:r>
              <a:t>Documentation too distributed for grading</a:t>
            </a:r>
          </a:p>
          <a:p>
            <a:pPr lvl="1">
              <a:defRPr sz="1700"/>
            </a:pPr>
            <a:r>
              <a:t>Testing not sufficiently reproducible for evaluators</a:t>
            </a:r>
          </a:p>
          <a:p>
            <a:pPr lvl="1">
              <a:defRPr sz="1700"/>
            </a:pPr>
            <a:r>
              <a:t>Some multi-symptom strengthening rules were ineffective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1 Feedback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the evaluators criticized and why Deliverable 2 needed more than just new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TODO 1(a): Itemized Summary of Needed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The rubric asks for an itemized summary of what needed improvement based on evaluator feedback and our own assessment.</a:t>
            </a:r>
          </a:p>
          <a:p>
            <a:pPr>
              <a:defRPr sz="1700"/>
            </a:pPr>
            <a:r>
              <a:t>The main improvement areas were documentation, references, design justification, validation and verification, uncertainty modeling, and multi-symptom strengthening behavior.</a:t>
            </a:r>
          </a:p>
          <a:p>
            <a:pPr>
              <a:defRPr sz="1700"/>
            </a:pPr>
            <a:r>
              <a:t>The next slides separate evaluator feedback from our own assessment so the grader can map the deck directly to TODO 1(a).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Feedback From D1: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Important evidence was spread across multiple files instead of being visible in the main graded artifact</a:t>
            </a:r>
          </a:p>
          <a:p>
            <a:pPr>
              <a:defRPr sz="1700"/>
            </a:pPr>
            <a:r>
              <a:t>References were too generic and did not name specific authoritative sources clearly enough</a:t>
            </a:r>
          </a:p>
          <a:p>
            <a:pPr>
              <a:defRPr sz="1700"/>
            </a:pPr>
            <a:r>
              <a:t>The design write-up said what the knowledge base contained, but not clearly why it helps the user and why it is explainable and maintainable</a:t>
            </a:r>
          </a:p>
          <a:p>
            <a:pPr>
              <a:defRPr sz="1700"/>
            </a:pPr>
            <a:r>
              <a:t>The transcript showed that the graders primarily evaluated the submitted report or presentation artifact</a:t>
            </a:r>
          </a:p>
          <a:p>
            <a:pPr>
              <a:defRPr sz="1700"/>
            </a:pPr>
            <a:r>
              <a:t>Information that only existed elsewhere in the repository was easy to miss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Feedback From D1: Technical and Verification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Validation and verification were present but not independently reproducible enough for evaluators</a:t>
            </a:r>
          </a:p>
          <a:p>
            <a:pPr>
              <a:defRPr sz="1700"/>
            </a:pPr>
            <a:r>
              <a:t>The D1 system used symbolic confidence labels without a formal uncertainty theory</a:t>
            </a:r>
          </a:p>
          <a:p>
            <a:pPr>
              <a:defRPr sz="1700"/>
            </a:pPr>
            <a:r>
              <a:t>Some multi-symptom rules were intended to strengthen diagnoses but often did not fire effectively</a:t>
            </a:r>
          </a:p>
          <a:p>
            <a:pPr>
              <a:defRPr sz="1700"/>
            </a:pPr>
            <a:r>
              <a:t>GitHub submission and naming details were not explicit enough to make repository access foolproof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Own Assessment of the D1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The old diagnostic-conclusion template was too narrow because it only stored a symbolic confidence label and an action.</a:t>
            </a:r>
          </a:p>
          <a:p>
            <a:pPr>
              <a:defRPr sz="1700"/>
            </a:pPr>
            <a:r>
              <a:rPr dirty="0"/>
              <a:t>The reasoning path from evidence to conclusion was not explicit enough for grading and traceability.</a:t>
            </a:r>
          </a:p>
          <a:p>
            <a:pPr>
              <a:defRPr sz="1700"/>
            </a:pPr>
            <a:r>
              <a:rPr dirty="0"/>
              <a:t>The test cases showed real effort and coverage, but did not yet function as a reproducible evaluator-facing verification artifact.</a:t>
            </a:r>
          </a:p>
          <a:p>
            <a:pPr>
              <a:defRPr sz="1700"/>
            </a:pPr>
            <a:r>
              <a:rPr dirty="0"/>
              <a:t>The project needed a cleaner way to distinguish between crisp knowledge, probabilistic uncertainty, and fuzzy uncertainty.</a:t>
            </a:r>
          </a:p>
          <a:p>
            <a:pPr>
              <a:defRPr sz="1700"/>
            </a:pPr>
            <a:r>
              <a:rPr dirty="0"/>
              <a:t>The main documentation needed to be more self-contained and easier to evaluate independently.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2 TODO 1: Improvements Made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The conclusion model was extended to store theory, score, label, rule-id, and rationale</a:t>
            </a:r>
          </a:p>
          <a:p>
            <a:pPr>
              <a:defRPr sz="1700"/>
            </a:pPr>
            <a:r>
              <a:t>A Certainty Factor layer was added for probabilistic uncertainty</a:t>
            </a:r>
          </a:p>
          <a:p>
            <a:pPr>
              <a:defRPr sz="1700"/>
            </a:pPr>
            <a:r>
              <a:t>A Fuzzy Logic layer was added for possibilistic uncertainty</a:t>
            </a:r>
          </a:p>
          <a:p>
            <a:pPr>
              <a:defRPr sz="1700"/>
            </a:pPr>
            <a:r>
              <a:t>The driver now collects symptom certainty factors and optional numeric readings</a:t>
            </a:r>
          </a:p>
          <a:p>
            <a:pPr>
              <a:defRPr sz="1700"/>
            </a:pPr>
            <a:r>
              <a:t>The old crisp strengthening limitation was fixed</a:t>
            </a:r>
          </a:p>
          <a:p>
            <a:pPr>
              <a:defRPr sz="1700"/>
            </a:pPr>
            <a:r>
              <a:t>The test document was rewritten as a reproducible verification procedure</a:t>
            </a:r>
          </a:p>
          <a:p>
            <a:pPr>
              <a:defRPr sz="1700"/>
            </a:pPr>
            <a:r>
              <a:t>The documentation was rewritten to be evaluator-facing and self-contained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TODO 1(b): Changes Made According to the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The rubric asks that changes be made according to the itemized summary from TODO 1(a).</a:t>
            </a:r>
          </a:p>
          <a:p>
            <a:pPr>
              <a:defRPr sz="1700"/>
            </a:pPr>
            <a:r>
              <a:t>Those changes were implemented in the code, driver, documentation, and test procedure rather than being left as intentions only.</a:t>
            </a:r>
          </a:p>
          <a:p>
            <a:pPr>
              <a:defRPr sz="1700"/>
            </a:pPr>
            <a:r>
              <a:t>Specifically, the project now has a traceable conclusion model, a Certainty Factor layer, a Fuzzy Logic layer, a revised input workflow, fixed crisp strengthening, and reproducible validation.</a:t>
            </a:r>
          </a:p>
          <a:p>
            <a:pPr>
              <a:defRPr sz="1700"/>
            </a:pPr>
            <a:r>
              <a:t>The next slide explains how each change is independently verifiable, as required by TODO 1(b).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2 TODO 1: Independent Verification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Template and data-model changes are visible in </a:t>
            </a:r>
            <a:r>
              <a:rPr dirty="0" err="1"/>
              <a:t>facts.txt</a:t>
            </a:r>
            <a:r>
              <a:rPr dirty="0"/>
              <a:t>.</a:t>
            </a:r>
          </a:p>
          <a:p>
            <a:pPr>
              <a:defRPr sz="1700"/>
            </a:pPr>
            <a:r>
              <a:rPr dirty="0"/>
              <a:t>Probabilistic rules are visible in </a:t>
            </a:r>
            <a:r>
              <a:rPr dirty="0" err="1"/>
              <a:t>rules.txt</a:t>
            </a:r>
            <a:r>
              <a:rPr dirty="0"/>
              <a:t> and are verifiable through the Certainty Factor tests.</a:t>
            </a:r>
          </a:p>
          <a:p>
            <a:pPr>
              <a:defRPr sz="1700"/>
            </a:pPr>
            <a:r>
              <a:rPr dirty="0"/>
              <a:t>Fuzzy rules are visible in </a:t>
            </a:r>
            <a:r>
              <a:rPr dirty="0" err="1"/>
              <a:t>rules.txt</a:t>
            </a:r>
            <a:r>
              <a:rPr dirty="0"/>
              <a:t> and are verifiable through the fuzzy tests.</a:t>
            </a:r>
          </a:p>
          <a:p>
            <a:pPr>
              <a:defRPr sz="1700"/>
            </a:pPr>
            <a:r>
              <a:rPr dirty="0"/>
              <a:t>The new input workflow is visible in </a:t>
            </a:r>
            <a:r>
              <a:rPr dirty="0" err="1"/>
              <a:t>driver.clp</a:t>
            </a:r>
            <a:r>
              <a:rPr dirty="0"/>
              <a:t>.</a:t>
            </a:r>
          </a:p>
          <a:p>
            <a:pPr>
              <a:defRPr sz="1700"/>
            </a:pPr>
            <a:r>
              <a:rPr dirty="0"/>
              <a:t>The design rationale, feedback response, and quality attributes are summarized directly in this deck and are also documented in </a:t>
            </a:r>
            <a:r>
              <a:rPr dirty="0" err="1"/>
              <a:t>design.txt</a:t>
            </a:r>
            <a:r>
              <a:rPr dirty="0"/>
              <a:t>.</a:t>
            </a:r>
          </a:p>
          <a:p>
            <a:pPr>
              <a:defRPr sz="1700"/>
            </a:pPr>
            <a:r>
              <a:rPr dirty="0"/>
              <a:t>The verification procedure is explicit in test-</a:t>
            </a:r>
            <a:r>
              <a:rPr dirty="0" err="1"/>
              <a:t>cases.txt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Base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Complete inventory of templates, facts, rules, and helper functions as they exist in the D2 codebase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Base Structure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700"/>
            </a:pPr>
            <a:r>
              <a:rPr dirty="0" err="1"/>
              <a:t>Factbase</a:t>
            </a:r>
            <a:r>
              <a:rPr dirty="0"/>
              <a:t> highlights (</a:t>
            </a:r>
            <a:r>
              <a:rPr dirty="0" err="1"/>
              <a:t>facts.txt</a:t>
            </a:r>
            <a:r>
              <a:rPr dirty="0"/>
              <a:t>)</a:t>
            </a:r>
          </a:p>
          <a:p>
            <a:pPr lvl="1">
              <a:defRPr sz="1700"/>
            </a:pPr>
            <a:r>
              <a:rPr dirty="0"/>
              <a:t>13 </a:t>
            </a:r>
            <a:r>
              <a:rPr dirty="0" err="1"/>
              <a:t>deftemplates</a:t>
            </a:r>
            <a:endParaRPr dirty="0"/>
          </a:p>
          <a:p>
            <a:pPr lvl="1">
              <a:defRPr sz="1700"/>
            </a:pPr>
            <a:r>
              <a:rPr dirty="0"/>
              <a:t>15 symptoms across 4 categories</a:t>
            </a:r>
          </a:p>
          <a:p>
            <a:pPr lvl="1">
              <a:defRPr sz="1700"/>
            </a:pPr>
            <a:r>
              <a:rPr dirty="0"/>
              <a:t>15 failure scenarios with recommended actions</a:t>
            </a:r>
          </a:p>
          <a:p>
            <a:pPr lvl="1">
              <a:defRPr sz="1700"/>
            </a:pPr>
            <a:r>
              <a:rPr dirty="0"/>
              <a:t>5 component descriptions</a:t>
            </a:r>
          </a:p>
          <a:p>
            <a:pPr lvl="1">
              <a:defRPr sz="1700"/>
            </a:pPr>
            <a:r>
              <a:rPr dirty="0"/>
              <a:t>15 crisp symptom indicators</a:t>
            </a:r>
          </a:p>
          <a:p>
            <a:pPr lvl="1">
              <a:defRPr sz="1700"/>
            </a:pPr>
            <a:r>
              <a:rPr dirty="0"/>
              <a:t>15 Certainty Factor evidence facts</a:t>
            </a:r>
          </a:p>
          <a:p>
            <a:pPr lvl="1">
              <a:defRPr sz="1700"/>
            </a:pPr>
            <a:r>
              <a:rPr dirty="0"/>
              <a:t>5 fuzzy variables and 15 fuzzy sets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1700"/>
            </a:pPr>
            <a:r>
              <a:t>Rulebase highlights (rules.txt)</a:t>
            </a:r>
          </a:p>
          <a:p>
            <a:pPr lvl="1">
              <a:defRPr sz="1700"/>
            </a:pPr>
            <a:r>
              <a:t>6 helper deffunctions</a:t>
            </a:r>
          </a:p>
          <a:p>
            <a:pPr lvl="1">
              <a:defRPr sz="1700"/>
            </a:pPr>
            <a:r>
              <a:t>34 defrules total</a:t>
            </a:r>
          </a:p>
          <a:p>
            <a:pPr lvl="1">
              <a:defRPr sz="1700"/>
            </a:pPr>
            <a:r>
              <a:t>5 baseline session and crisp rules</a:t>
            </a:r>
          </a:p>
          <a:p>
            <a:pPr lvl="1">
              <a:defRPr sz="1700"/>
            </a:pPr>
            <a:r>
              <a:t>13 Certainty Factor rules</a:t>
            </a:r>
          </a:p>
          <a:p>
            <a:pPr lvl="1">
              <a:defRPr sz="1700"/>
            </a:pPr>
            <a:r>
              <a:t>12 fuzzy-section rules incl. fuzzification</a:t>
            </a:r>
          </a:p>
          <a:p>
            <a:pPr lvl="1">
              <a:defRPr sz="1700"/>
            </a:pPr>
            <a:r>
              <a:t>4 summary and helper rules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Factbase Structure in More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The </a:t>
            </a:r>
            <a:r>
              <a:rPr dirty="0" err="1"/>
              <a:t>factbase</a:t>
            </a:r>
            <a:r>
              <a:rPr dirty="0"/>
              <a:t> contains static domain knowledge and templates for runtime evidence.</a:t>
            </a:r>
          </a:p>
          <a:p>
            <a:pPr>
              <a:defRPr sz="1700"/>
            </a:pPr>
            <a:r>
              <a:rPr dirty="0"/>
              <a:t>Static domain knowledge includes the symptom catalogue, component descriptions, failure scenarios, crisp symptom indicators, Certainty Factor evidence facts, fuzzy variables, and fuzzy sets.</a:t>
            </a:r>
          </a:p>
          <a:p>
            <a:pPr>
              <a:defRPr sz="1700"/>
            </a:pPr>
            <a:r>
              <a:rPr dirty="0"/>
              <a:t>Runtime-facing structures include reported-symptom, sensor-reading, fuzzy-assessment, and diagnostic-conclusion.</a:t>
            </a:r>
          </a:p>
          <a:p>
            <a:pPr>
              <a:defRPr sz="1700"/>
            </a:pPr>
            <a:r>
              <a:rPr dirty="0"/>
              <a:t>The unified diagnostic-conclusion template is the main D2 traceability improvement because it records theory, score, label, rule-id, action, and rationale.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Templates Added or Expanded in D2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 err="1"/>
              <a:t>cf</a:t>
            </a:r>
            <a:r>
              <a:rPr dirty="0"/>
              <a:t>-evidence: stores probabilistic support weights and textual rationales.</a:t>
            </a:r>
          </a:p>
          <a:p>
            <a:pPr>
              <a:defRPr sz="1700"/>
            </a:pPr>
            <a:r>
              <a:rPr dirty="0"/>
              <a:t>fuzzy-variable: defines quantitative variables used for possibilistic reasoning.</a:t>
            </a:r>
          </a:p>
          <a:p>
            <a:pPr>
              <a:defRPr sz="1700"/>
            </a:pPr>
            <a:r>
              <a:rPr dirty="0"/>
              <a:t>fuzzy-set: stores trapezoidal membership definitions a-b-c-d.</a:t>
            </a:r>
          </a:p>
          <a:p>
            <a:pPr>
              <a:defRPr sz="1700"/>
            </a:pPr>
            <a:r>
              <a:rPr dirty="0"/>
              <a:t>reported-symptom: now stores a user certainty factor.</a:t>
            </a:r>
          </a:p>
          <a:p>
            <a:pPr>
              <a:defRPr sz="1700"/>
            </a:pPr>
            <a:r>
              <a:rPr dirty="0"/>
              <a:t>sensor-reading: stores quantitative values such as temperature, voltage stability, and boot time.</a:t>
            </a:r>
          </a:p>
          <a:p>
            <a:pPr>
              <a:defRPr sz="1700"/>
            </a:pPr>
            <a:r>
              <a:rPr dirty="0"/>
              <a:t>fuzzy-assessment: stores intermediate membership values created by fuzzification.</a:t>
            </a:r>
          </a:p>
          <a:p>
            <a:pPr>
              <a:defRPr sz="1700"/>
            </a:pPr>
            <a:r>
              <a:rPr dirty="0"/>
              <a:t>diagnostic-conclusion: now unifies crisp, probabilistic, and fuzzy outputs.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CLIPS Code: Core </a:t>
            </a:r>
            <a:r>
              <a:rPr dirty="0" err="1"/>
              <a:t>Deftemplate</a:t>
            </a:r>
            <a:r>
              <a:rPr dirty="0"/>
              <a:t> Definitions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4963"/>
            <a:ext cx="7920446" cy="4369117"/>
          </a:xfrm>
        </p:spPr>
        <p:txBody>
          <a:bodyPr/>
          <a:lstStyle/>
          <a:p>
            <a:pPr>
              <a:defRPr sz="1300"/>
            </a:pPr>
            <a:r>
              <a:rPr sz="1050" dirty="0"/>
              <a:t>(</a:t>
            </a:r>
            <a:r>
              <a:rPr sz="1050" dirty="0" err="1"/>
              <a:t>deftemplate</a:t>
            </a:r>
            <a:r>
              <a:rPr sz="1050" dirty="0"/>
              <a:t> symptom</a:t>
            </a:r>
          </a:p>
          <a:p>
            <a:pPr>
              <a:defRPr sz="1300"/>
            </a:pPr>
            <a:r>
              <a:rPr sz="1050" dirty="0"/>
              <a:t>  (slot id (type SYMBOL))</a:t>
            </a:r>
          </a:p>
          <a:p>
            <a:pPr>
              <a:defRPr sz="1300"/>
            </a:pPr>
            <a:r>
              <a:rPr sz="1050" dirty="0"/>
              <a:t>  (slot description (type STRING))</a:t>
            </a:r>
          </a:p>
          <a:p>
            <a:pPr>
              <a:defRPr sz="1300"/>
            </a:pPr>
            <a:r>
              <a:rPr sz="1050" dirty="0"/>
              <a:t>  (slot category (type SYMBOL)))</a:t>
            </a:r>
          </a:p>
          <a:p>
            <a:pPr>
              <a:defRPr sz="1300"/>
            </a:pPr>
            <a:endParaRPr sz="1050" dirty="0"/>
          </a:p>
          <a:p>
            <a:pPr>
              <a:defRPr sz="1300"/>
            </a:pPr>
            <a:r>
              <a:rPr sz="1050" dirty="0"/>
              <a:t>(</a:t>
            </a:r>
            <a:r>
              <a:rPr sz="1050" dirty="0" err="1"/>
              <a:t>deftemplate</a:t>
            </a:r>
            <a:r>
              <a:rPr sz="1050" dirty="0"/>
              <a:t> failure-scenario</a:t>
            </a:r>
          </a:p>
          <a:p>
            <a:pPr>
              <a:defRPr sz="1300"/>
            </a:pPr>
            <a:r>
              <a:rPr sz="1050" dirty="0"/>
              <a:t>  (slot id (type SYMBOL))</a:t>
            </a:r>
          </a:p>
          <a:p>
            <a:pPr>
              <a:defRPr sz="1300"/>
            </a:pPr>
            <a:r>
              <a:rPr sz="1050" dirty="0"/>
              <a:t>  (slot name (type STRING))</a:t>
            </a:r>
          </a:p>
          <a:p>
            <a:pPr>
              <a:defRPr sz="1300"/>
            </a:pPr>
            <a:r>
              <a:rPr sz="1050" dirty="0"/>
              <a:t>  (slot module (type SYMBOL))</a:t>
            </a:r>
          </a:p>
          <a:p>
            <a:pPr>
              <a:defRPr sz="1300"/>
            </a:pPr>
            <a:r>
              <a:rPr sz="1050" dirty="0"/>
              <a:t>  (slot recommended-action (type STRING)))</a:t>
            </a:r>
          </a:p>
          <a:p>
            <a:pPr>
              <a:defRPr sz="1300"/>
            </a:pPr>
            <a:endParaRPr sz="1050" dirty="0"/>
          </a:p>
          <a:p>
            <a:pPr>
              <a:defRPr sz="1300"/>
            </a:pPr>
            <a:r>
              <a:rPr sz="1050" dirty="0"/>
              <a:t>(</a:t>
            </a:r>
            <a:r>
              <a:rPr sz="1050" dirty="0" err="1"/>
              <a:t>deftemplate</a:t>
            </a:r>
            <a:r>
              <a:rPr sz="1050" dirty="0"/>
              <a:t> symptom-indicator</a:t>
            </a:r>
          </a:p>
          <a:p>
            <a:pPr>
              <a:defRPr sz="1300"/>
            </a:pPr>
            <a:r>
              <a:rPr sz="1050" dirty="0"/>
              <a:t>  (slot symptom-id (type SYMBOL))</a:t>
            </a:r>
          </a:p>
          <a:p>
            <a:pPr>
              <a:defRPr sz="1300"/>
            </a:pPr>
            <a:r>
              <a:rPr sz="1050" dirty="0"/>
              <a:t>  (slot indicates-scenario (type SYMBOL))</a:t>
            </a:r>
          </a:p>
          <a:p>
            <a:pPr>
              <a:defRPr sz="1300"/>
            </a:pPr>
            <a:r>
              <a:rPr sz="1050" dirty="0"/>
              <a:t>  (slot strength (type SYMBOL)))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CLIPS Code: Core </a:t>
            </a:r>
            <a:r>
              <a:rPr dirty="0" err="1"/>
              <a:t>Deftemplate</a:t>
            </a:r>
            <a:r>
              <a:rPr dirty="0"/>
              <a:t> Definitions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rPr sz="1100" dirty="0"/>
              <a:t>(</a:t>
            </a:r>
            <a:r>
              <a:rPr sz="1100" dirty="0" err="1"/>
              <a:t>deftemplate</a:t>
            </a:r>
            <a:r>
              <a:rPr sz="1100" dirty="0"/>
              <a:t> </a:t>
            </a:r>
            <a:r>
              <a:rPr sz="1100" dirty="0" err="1"/>
              <a:t>cf</a:t>
            </a:r>
            <a:r>
              <a:rPr sz="1100" dirty="0"/>
              <a:t>-evidence</a:t>
            </a:r>
          </a:p>
          <a:p>
            <a:pPr>
              <a:defRPr sz="1300"/>
            </a:pPr>
            <a:r>
              <a:rPr sz="1100" dirty="0"/>
              <a:t>  (slot symptom-id (type SYMBOL))</a:t>
            </a:r>
          </a:p>
          <a:p>
            <a:pPr>
              <a:defRPr sz="1300"/>
            </a:pPr>
            <a:r>
              <a:rPr sz="1100" dirty="0"/>
              <a:t>  (slot scenario-id (type SYMBOL))</a:t>
            </a:r>
          </a:p>
          <a:p>
            <a:pPr>
              <a:defRPr sz="1300"/>
            </a:pPr>
            <a:r>
              <a:rPr sz="1100" dirty="0"/>
              <a:t>  (slot weight (type NUMBER))</a:t>
            </a:r>
          </a:p>
          <a:p>
            <a:pPr>
              <a:defRPr sz="1300"/>
            </a:pPr>
            <a:r>
              <a:rPr sz="1100" dirty="0"/>
              <a:t>  (slot rationale (type STRING)))</a:t>
            </a:r>
          </a:p>
          <a:p>
            <a:pPr>
              <a:defRPr sz="1300"/>
            </a:pPr>
            <a:endParaRPr sz="1100" dirty="0"/>
          </a:p>
          <a:p>
            <a:pPr>
              <a:defRPr sz="1300"/>
            </a:pPr>
            <a:r>
              <a:rPr sz="1100" dirty="0"/>
              <a:t>(</a:t>
            </a:r>
            <a:r>
              <a:rPr sz="1100" dirty="0" err="1"/>
              <a:t>deftemplate</a:t>
            </a:r>
            <a:r>
              <a:rPr sz="1100" dirty="0"/>
              <a:t> fuzzy-variable</a:t>
            </a:r>
          </a:p>
          <a:p>
            <a:pPr>
              <a:defRPr sz="1300"/>
            </a:pPr>
            <a:r>
              <a:rPr sz="1100" dirty="0"/>
              <a:t>  (slot name (type SYMBOL))</a:t>
            </a:r>
          </a:p>
          <a:p>
            <a:pPr>
              <a:defRPr sz="1300"/>
            </a:pPr>
            <a:r>
              <a:rPr sz="1100" dirty="0"/>
              <a:t>  (slot description (type STRING))</a:t>
            </a:r>
          </a:p>
          <a:p>
            <a:pPr>
              <a:defRPr sz="1300"/>
            </a:pPr>
            <a:r>
              <a:rPr sz="1100" dirty="0"/>
              <a:t>  (slot units (type STRING)))</a:t>
            </a:r>
          </a:p>
          <a:p>
            <a:pPr>
              <a:defRPr sz="1300"/>
            </a:pPr>
            <a:endParaRPr sz="1100" dirty="0"/>
          </a:p>
          <a:p>
            <a:pPr>
              <a:defRPr sz="1300"/>
            </a:pPr>
            <a:r>
              <a:rPr sz="1100" dirty="0"/>
              <a:t>(</a:t>
            </a:r>
            <a:r>
              <a:rPr sz="1100" dirty="0" err="1"/>
              <a:t>deftemplate</a:t>
            </a:r>
            <a:r>
              <a:rPr sz="1100" dirty="0"/>
              <a:t> fuzzy-set</a:t>
            </a:r>
          </a:p>
          <a:p>
            <a:pPr>
              <a:defRPr sz="1300"/>
            </a:pPr>
            <a:r>
              <a:rPr sz="1100" dirty="0"/>
              <a:t>  (slot variable (type SYMBOL)) (slot label (type SYMBOL))</a:t>
            </a:r>
          </a:p>
          <a:p>
            <a:pPr>
              <a:defRPr sz="1300"/>
            </a:pPr>
            <a:r>
              <a:rPr sz="1100" dirty="0"/>
              <a:t>  (slot a (type NUMBER)) (slot b (type NUMBER))</a:t>
            </a:r>
          </a:p>
          <a:p>
            <a:pPr>
              <a:defRPr sz="1300"/>
            </a:pPr>
            <a:r>
              <a:rPr sz="1100" dirty="0"/>
              <a:t>  (slot c (type NUMBER)) (slot d (type NUMBER)))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CLIPS Code: Runtime and Output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rPr sz="900" dirty="0"/>
              <a:t>(</a:t>
            </a:r>
            <a:r>
              <a:rPr sz="900" dirty="0" err="1"/>
              <a:t>deftemplate</a:t>
            </a:r>
            <a:r>
              <a:rPr sz="900" dirty="0"/>
              <a:t> reported-symptom</a:t>
            </a:r>
          </a:p>
          <a:p>
            <a:pPr>
              <a:defRPr sz="1300"/>
            </a:pPr>
            <a:r>
              <a:rPr sz="900" dirty="0"/>
              <a:t>  (slot symptom-id (type SYMBOL))</a:t>
            </a:r>
          </a:p>
          <a:p>
            <a:pPr>
              <a:defRPr sz="1300"/>
            </a:pPr>
            <a:r>
              <a:rPr sz="900" dirty="0"/>
              <a:t>  (slot observed (type SYMBOL))</a:t>
            </a:r>
          </a:p>
          <a:p>
            <a:pPr>
              <a:defRPr sz="1300"/>
            </a:pPr>
            <a:r>
              <a:rPr sz="900" dirty="0"/>
              <a:t>  (slot user-</a:t>
            </a:r>
            <a:r>
              <a:rPr sz="900" dirty="0" err="1"/>
              <a:t>cf</a:t>
            </a:r>
            <a:r>
              <a:rPr sz="900" dirty="0"/>
              <a:t> (type NUMBER) (default 1.0)))</a:t>
            </a:r>
          </a:p>
          <a:p>
            <a:pPr>
              <a:defRPr sz="1300"/>
            </a:pPr>
            <a:endParaRPr sz="900" dirty="0"/>
          </a:p>
          <a:p>
            <a:pPr>
              <a:defRPr sz="1300"/>
            </a:pPr>
            <a:r>
              <a:rPr sz="900" dirty="0"/>
              <a:t>(</a:t>
            </a:r>
            <a:r>
              <a:rPr sz="900" dirty="0" err="1"/>
              <a:t>deftemplate</a:t>
            </a:r>
            <a:r>
              <a:rPr sz="900" dirty="0"/>
              <a:t> sensor-reading</a:t>
            </a:r>
          </a:p>
          <a:p>
            <a:pPr>
              <a:defRPr sz="1300"/>
            </a:pPr>
            <a:r>
              <a:rPr sz="900" dirty="0"/>
              <a:t>  (slot name (type SYMBOL)) (slot value (type NUMBER)))</a:t>
            </a:r>
          </a:p>
          <a:p>
            <a:pPr>
              <a:defRPr sz="1300"/>
            </a:pPr>
            <a:endParaRPr sz="900" dirty="0"/>
          </a:p>
          <a:p>
            <a:pPr>
              <a:defRPr sz="1300"/>
            </a:pPr>
            <a:r>
              <a:rPr sz="900" dirty="0"/>
              <a:t>(</a:t>
            </a:r>
            <a:r>
              <a:rPr sz="900" dirty="0" err="1"/>
              <a:t>deftemplate</a:t>
            </a:r>
            <a:r>
              <a:rPr sz="900" dirty="0"/>
              <a:t> diagnostic-conclusion</a:t>
            </a:r>
          </a:p>
          <a:p>
            <a:pPr>
              <a:defRPr sz="1300"/>
            </a:pPr>
            <a:r>
              <a:rPr sz="900" dirty="0"/>
              <a:t>  (slot scenario-id (type SYMBOL))</a:t>
            </a:r>
          </a:p>
          <a:p>
            <a:pPr>
              <a:defRPr sz="1300"/>
            </a:pPr>
            <a:r>
              <a:rPr sz="900" dirty="0"/>
              <a:t>  (slot theory (type SYMBOL))    ; crisp | probabilistic | fuzzy</a:t>
            </a:r>
          </a:p>
          <a:p>
            <a:pPr>
              <a:defRPr sz="1300"/>
            </a:pPr>
            <a:r>
              <a:rPr sz="900" dirty="0"/>
              <a:t>  (slot score (type NUMBER))     ; 0.0 to 1.0</a:t>
            </a:r>
          </a:p>
          <a:p>
            <a:pPr>
              <a:defRPr sz="1300"/>
            </a:pPr>
            <a:r>
              <a:rPr sz="900" dirty="0"/>
              <a:t>  (slot label (type SYMBOL))     ; very-strong | strong | moderate | weak</a:t>
            </a:r>
          </a:p>
          <a:p>
            <a:pPr>
              <a:defRPr sz="1300"/>
            </a:pPr>
            <a:r>
              <a:rPr sz="900" dirty="0"/>
              <a:t>  (slot rule-id (type SYMBOL))</a:t>
            </a:r>
          </a:p>
          <a:p>
            <a:pPr>
              <a:defRPr sz="1300"/>
            </a:pPr>
            <a:r>
              <a:rPr sz="900" dirty="0"/>
              <a:t>  (slot recommended-action (type STRING))</a:t>
            </a:r>
          </a:p>
          <a:p>
            <a:pPr>
              <a:defRPr sz="1300"/>
            </a:pPr>
            <a:r>
              <a:rPr sz="900" dirty="0"/>
              <a:t>  (slot rationale (type STRING)))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CLIPS Code: Helper Functions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sz="1000" dirty="0"/>
              <a:t>(</a:t>
            </a:r>
            <a:r>
              <a:rPr sz="1000" dirty="0" err="1"/>
              <a:t>deffunction</a:t>
            </a:r>
            <a:r>
              <a:rPr sz="1000" dirty="0"/>
              <a:t> clamp-score (?value)</a:t>
            </a:r>
          </a:p>
          <a:p>
            <a:pPr>
              <a:defRPr sz="1400"/>
            </a:pPr>
            <a:r>
              <a:rPr sz="1000" dirty="0"/>
              <a:t>  (if (&lt; ?value 0.0) then 0.0</a:t>
            </a:r>
          </a:p>
          <a:p>
            <a:pPr>
              <a:defRPr sz="1400"/>
            </a:pPr>
            <a:r>
              <a:rPr sz="1000" dirty="0"/>
              <a:t>   else (if (&gt; ?value 1.0) then 1.0 else ?value)))</a:t>
            </a:r>
          </a:p>
          <a:p>
            <a:pPr>
              <a:defRPr sz="1400"/>
            </a:pPr>
            <a:endParaRPr sz="1000" dirty="0"/>
          </a:p>
          <a:p>
            <a:pPr>
              <a:defRPr sz="1400"/>
            </a:pPr>
            <a:r>
              <a:rPr sz="1000" dirty="0"/>
              <a:t>(</a:t>
            </a:r>
            <a:r>
              <a:rPr sz="1000" dirty="0" err="1"/>
              <a:t>deffunction</a:t>
            </a:r>
            <a:r>
              <a:rPr sz="1000" dirty="0"/>
              <a:t> strength-to-score (?strength)</a:t>
            </a:r>
          </a:p>
          <a:p>
            <a:pPr>
              <a:defRPr sz="1400"/>
            </a:pPr>
            <a:r>
              <a:rPr sz="1000" dirty="0"/>
              <a:t>  (if (eq ?strength strong) then 0.90</a:t>
            </a:r>
          </a:p>
          <a:p>
            <a:pPr>
              <a:defRPr sz="1400"/>
            </a:pPr>
            <a:r>
              <a:rPr sz="1000" dirty="0"/>
              <a:t>   else (if (eq ?strength moderate) then 0.65 else 0.45)))</a:t>
            </a:r>
          </a:p>
          <a:p>
            <a:pPr>
              <a:defRPr sz="1400"/>
            </a:pPr>
            <a:endParaRPr sz="1000" dirty="0"/>
          </a:p>
          <a:p>
            <a:pPr>
              <a:defRPr sz="1400"/>
            </a:pPr>
            <a:r>
              <a:rPr sz="1000" dirty="0"/>
              <a:t>(</a:t>
            </a:r>
            <a:r>
              <a:rPr sz="1000" dirty="0" err="1"/>
              <a:t>deffunction</a:t>
            </a:r>
            <a:r>
              <a:rPr sz="1000" dirty="0"/>
              <a:t> score-label (?score)</a:t>
            </a:r>
          </a:p>
          <a:p>
            <a:pPr>
              <a:defRPr sz="1400"/>
            </a:pPr>
            <a:r>
              <a:rPr sz="1000" dirty="0"/>
              <a:t>  (if (&gt;= ?score 0.90) then very-strong</a:t>
            </a:r>
          </a:p>
          <a:p>
            <a:pPr>
              <a:defRPr sz="1400"/>
            </a:pPr>
            <a:r>
              <a:rPr sz="1000" dirty="0"/>
              <a:t>   else (if (&gt;= ?score 0.75) then strong</a:t>
            </a:r>
          </a:p>
          <a:p>
            <a:pPr>
              <a:defRPr sz="1400"/>
            </a:pPr>
            <a:r>
              <a:rPr sz="1000" dirty="0"/>
              <a:t>   else (if (&gt;= ?score 0.55) then moderate else weak))))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CLIPS Code: Helper Functions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sz="1000" dirty="0"/>
              <a:t>(</a:t>
            </a:r>
            <a:r>
              <a:rPr sz="1000" dirty="0" err="1"/>
              <a:t>deffunction</a:t>
            </a:r>
            <a:r>
              <a:rPr sz="1000" dirty="0"/>
              <a:t> combine-</a:t>
            </a:r>
            <a:r>
              <a:rPr sz="1000" dirty="0" err="1"/>
              <a:t>cf</a:t>
            </a:r>
            <a:r>
              <a:rPr sz="1000" dirty="0"/>
              <a:t> (?a ?b)</a:t>
            </a:r>
          </a:p>
          <a:p>
            <a:pPr>
              <a:defRPr sz="1400"/>
            </a:pPr>
            <a:r>
              <a:rPr sz="1000" dirty="0"/>
              <a:t>  (bind ?aa (clamp-score ?a))</a:t>
            </a:r>
          </a:p>
          <a:p>
            <a:pPr>
              <a:defRPr sz="1400"/>
            </a:pPr>
            <a:r>
              <a:rPr sz="1000" dirty="0"/>
              <a:t>  (bind ?bb (clamp-score ?b))</a:t>
            </a:r>
          </a:p>
          <a:p>
            <a:pPr>
              <a:defRPr sz="1400"/>
            </a:pPr>
            <a:r>
              <a:rPr sz="1000" dirty="0"/>
              <a:t>  (clamp-score (+ ?aa (* ?bb (- 1.0 ?aa)))))</a:t>
            </a:r>
          </a:p>
          <a:p>
            <a:pPr>
              <a:defRPr sz="1400"/>
            </a:pPr>
            <a:endParaRPr sz="1000" dirty="0"/>
          </a:p>
          <a:p>
            <a:pPr>
              <a:defRPr sz="1400"/>
            </a:pPr>
            <a:r>
              <a:rPr sz="1000" dirty="0"/>
              <a:t>(</a:t>
            </a:r>
            <a:r>
              <a:rPr sz="1000" dirty="0" err="1"/>
              <a:t>deffunction</a:t>
            </a:r>
            <a:r>
              <a:rPr sz="1000" dirty="0"/>
              <a:t> fuzzy-and (?a ?b)</a:t>
            </a:r>
          </a:p>
          <a:p>
            <a:pPr>
              <a:defRPr sz="1400"/>
            </a:pPr>
            <a:r>
              <a:rPr sz="1000" dirty="0"/>
              <a:t>  (if (&lt; ?a ?b) then ?a else ?b))</a:t>
            </a:r>
          </a:p>
          <a:p>
            <a:pPr>
              <a:defRPr sz="1400"/>
            </a:pPr>
            <a:endParaRPr sz="1000" dirty="0"/>
          </a:p>
          <a:p>
            <a:pPr>
              <a:defRPr sz="1400"/>
            </a:pPr>
            <a:r>
              <a:rPr sz="1000" dirty="0"/>
              <a:t>(</a:t>
            </a:r>
            <a:r>
              <a:rPr sz="1000" dirty="0" err="1"/>
              <a:t>deffunction</a:t>
            </a:r>
            <a:r>
              <a:rPr sz="1000" dirty="0"/>
              <a:t> trapezoid-membership (?x ?a ?b ?c ?d)</a:t>
            </a:r>
          </a:p>
          <a:p>
            <a:pPr>
              <a:defRPr sz="1400"/>
            </a:pPr>
            <a:r>
              <a:rPr sz="1000" dirty="0"/>
              <a:t>  (if (or (&lt;= ?x ?a) (&gt;= ?x ?d)) then 0.0</a:t>
            </a:r>
          </a:p>
          <a:p>
            <a:pPr>
              <a:defRPr sz="1400"/>
            </a:pPr>
            <a:r>
              <a:rPr sz="1000" dirty="0"/>
              <a:t>   else (if (and (&gt;= ?x ?b) (&lt;= ?x ?c)) then 1.0</a:t>
            </a:r>
          </a:p>
          <a:p>
            <a:pPr>
              <a:defRPr sz="1400"/>
            </a:pPr>
            <a:r>
              <a:rPr sz="1000" dirty="0"/>
              <a:t>   else (if (&lt; ?x ?b) then (/ (- ?x ?a) (- ?b ?a))</a:t>
            </a:r>
          </a:p>
          <a:p>
            <a:pPr>
              <a:defRPr sz="1400"/>
            </a:pPr>
            <a:r>
              <a:rPr sz="1000" dirty="0"/>
              <a:t>   else (/ (- ?d ?x) (- ?d ?c))))))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Rulebase Structure in More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The </a:t>
            </a:r>
            <a:r>
              <a:rPr dirty="0" err="1"/>
              <a:t>rulebase</a:t>
            </a:r>
            <a:r>
              <a:rPr dirty="0"/>
              <a:t> is divided into baseline crisp reasoning, Certainty Factor rules, fuzzy rules, and summary/helper rules.</a:t>
            </a:r>
          </a:p>
          <a:p>
            <a:pPr>
              <a:defRPr sz="1700"/>
            </a:pPr>
            <a:r>
              <a:rPr dirty="0"/>
              <a:t>The D1 crisp layer remains as the explainable baseline.</a:t>
            </a:r>
          </a:p>
          <a:p>
            <a:pPr>
              <a:defRPr sz="1700"/>
            </a:pPr>
            <a:r>
              <a:rPr dirty="0"/>
              <a:t>The strengthen-crisp-* rules fix the old multi-symptom limitation by replacing weaker crisp conclusions with stronger ones.</a:t>
            </a:r>
          </a:p>
          <a:p>
            <a:pPr>
              <a:defRPr sz="1700"/>
            </a:pPr>
            <a:r>
              <a:rPr dirty="0"/>
              <a:t>The </a:t>
            </a:r>
            <a:r>
              <a:rPr dirty="0" err="1"/>
              <a:t>cf</a:t>
            </a:r>
            <a:r>
              <a:rPr dirty="0"/>
              <a:t>-* rules implement numeric probabilistic support and evidence combination.</a:t>
            </a:r>
          </a:p>
          <a:p>
            <a:pPr>
              <a:defRPr sz="1700"/>
            </a:pPr>
            <a:r>
              <a:rPr dirty="0"/>
              <a:t>The </a:t>
            </a:r>
            <a:r>
              <a:rPr dirty="0" err="1"/>
              <a:t>fuzzify</a:t>
            </a:r>
            <a:r>
              <a:rPr dirty="0"/>
              <a:t>-reading rule plus the fuzzy-* rules implement possibilistic reasoning from gradual measurements.</a:t>
            </a:r>
          </a:p>
          <a:p>
            <a:pPr>
              <a:defRPr sz="1700"/>
            </a:pPr>
            <a:r>
              <a:rPr dirty="0"/>
              <a:t>The summary and helper rules print theory-specific outputs and verification prompts.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CLIPS Code: Representative Crisp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rPr sz="900" dirty="0"/>
              <a:t>(</a:t>
            </a:r>
            <a:r>
              <a:rPr sz="900" dirty="0" err="1"/>
              <a:t>defrule</a:t>
            </a:r>
            <a:r>
              <a:rPr sz="900" dirty="0"/>
              <a:t> diagnose-crisp-from-symptom</a:t>
            </a:r>
          </a:p>
          <a:p>
            <a:pPr>
              <a:defRPr sz="1200"/>
            </a:pPr>
            <a:r>
              <a:rPr sz="900" dirty="0"/>
              <a:t>  "D1 baseline rule: map a reported symptom to one crisp conclusion."</a:t>
            </a:r>
          </a:p>
          <a:p>
            <a:pPr>
              <a:defRPr sz="1200"/>
            </a:pPr>
            <a:r>
              <a:rPr sz="900" dirty="0"/>
              <a:t>  (reported-symptom (symptom-id ?</a:t>
            </a:r>
            <a:r>
              <a:rPr sz="900" dirty="0" err="1"/>
              <a:t>sid</a:t>
            </a:r>
            <a:r>
              <a:rPr sz="900" dirty="0"/>
              <a:t>) (observed yes))</a:t>
            </a:r>
          </a:p>
          <a:p>
            <a:pPr>
              <a:defRPr sz="1200"/>
            </a:pPr>
            <a:r>
              <a:rPr sz="900" dirty="0"/>
              <a:t>  (symptom-indicator (symptom-id ?</a:t>
            </a:r>
            <a:r>
              <a:rPr sz="900" dirty="0" err="1"/>
              <a:t>sid</a:t>
            </a:r>
            <a:r>
              <a:rPr sz="900" dirty="0"/>
              <a:t>)</a:t>
            </a:r>
          </a:p>
          <a:p>
            <a:pPr>
              <a:defRPr sz="1200"/>
            </a:pPr>
            <a:r>
              <a:rPr sz="900" dirty="0"/>
              <a:t>    (indicates-scenario ?scenario) (strength ?strength))</a:t>
            </a:r>
          </a:p>
          <a:p>
            <a:pPr>
              <a:defRPr sz="1200"/>
            </a:pPr>
            <a:r>
              <a:rPr sz="900" dirty="0"/>
              <a:t>  (failure-scenario (id ?scenario) (name ?name)</a:t>
            </a:r>
          </a:p>
          <a:p>
            <a:pPr>
              <a:defRPr sz="1200"/>
            </a:pPr>
            <a:r>
              <a:rPr sz="900" dirty="0"/>
              <a:t>    (recommended-action ?action))</a:t>
            </a:r>
          </a:p>
          <a:p>
            <a:pPr>
              <a:defRPr sz="1200"/>
            </a:pPr>
            <a:r>
              <a:rPr sz="900" dirty="0"/>
              <a:t>  (not (diagnostic-conclusion (scenario-id ?scenario) (theory crisp)))</a:t>
            </a:r>
          </a:p>
          <a:p>
            <a:pPr>
              <a:defRPr sz="1200"/>
            </a:pPr>
            <a:r>
              <a:rPr sz="900" dirty="0"/>
              <a:t>  =&gt;</a:t>
            </a:r>
          </a:p>
          <a:p>
            <a:pPr>
              <a:defRPr sz="1200"/>
            </a:pPr>
            <a:r>
              <a:rPr sz="900" dirty="0"/>
              <a:t>  (bind ?score (strength-to-score ?strength))</a:t>
            </a:r>
          </a:p>
          <a:p>
            <a:pPr>
              <a:defRPr sz="1200"/>
            </a:pPr>
            <a:r>
              <a:rPr sz="900" dirty="0"/>
              <a:t>  (assert (diagnostic-conclusion (scenario-id ?scenario)</a:t>
            </a:r>
          </a:p>
          <a:p>
            <a:pPr>
              <a:defRPr sz="1200"/>
            </a:pPr>
            <a:r>
              <a:rPr sz="900" dirty="0"/>
              <a:t>    (theory crisp) (score ?score) (label ?strength)</a:t>
            </a:r>
          </a:p>
          <a:p>
            <a:pPr>
              <a:defRPr sz="1200"/>
            </a:pPr>
            <a:r>
              <a:rPr sz="900" dirty="0"/>
              <a:t>    (rule-id ?</a:t>
            </a:r>
            <a:r>
              <a:rPr sz="900" dirty="0" err="1"/>
              <a:t>sid</a:t>
            </a:r>
            <a:r>
              <a:rPr sz="900" dirty="0"/>
              <a:t>) (recommended-action ?action)</a:t>
            </a:r>
          </a:p>
          <a:p>
            <a:pPr>
              <a:defRPr sz="1200"/>
            </a:pPr>
            <a:r>
              <a:rPr sz="900" dirty="0"/>
              <a:t>    (rationale "Crisp D1 symptom-indicator matched."))))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CLIPS Code: Representative Crisp Strengthening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rPr sz="800" dirty="0"/>
              <a:t>(</a:t>
            </a:r>
            <a:r>
              <a:rPr sz="800" dirty="0" err="1"/>
              <a:t>defrule</a:t>
            </a:r>
            <a:r>
              <a:rPr sz="800" dirty="0"/>
              <a:t> strengthen-crisp-</a:t>
            </a:r>
            <a:r>
              <a:rPr sz="800" dirty="0" err="1"/>
              <a:t>psu</a:t>
            </a:r>
            <a:r>
              <a:rPr sz="800" dirty="0"/>
              <a:t>-diagnosis</a:t>
            </a:r>
          </a:p>
          <a:p>
            <a:pPr>
              <a:defRPr sz="1200"/>
            </a:pPr>
            <a:r>
              <a:rPr sz="800" dirty="0"/>
              <a:t>  "Replaces the weaker crisp conclusion when corroborating symptoms co-occur."</a:t>
            </a:r>
          </a:p>
          <a:p>
            <a:pPr>
              <a:defRPr sz="1200"/>
            </a:pPr>
            <a:r>
              <a:rPr sz="800" dirty="0"/>
              <a:t>  (reported-symptom (symptom-id no-power-at-all) (observed yes))</a:t>
            </a:r>
          </a:p>
          <a:p>
            <a:pPr>
              <a:defRPr sz="1200"/>
            </a:pPr>
            <a:r>
              <a:rPr sz="800" dirty="0"/>
              <a:t>  (reported-symptom (symptom-id post-beep-codes) (observed yes))</a:t>
            </a:r>
          </a:p>
          <a:p>
            <a:pPr>
              <a:defRPr sz="1200"/>
            </a:pPr>
            <a:r>
              <a:rPr sz="800" dirty="0"/>
              <a:t>  ?old &lt;- (diagnostic-conclusion (scenario-id </a:t>
            </a:r>
            <a:r>
              <a:rPr sz="800" dirty="0" err="1"/>
              <a:t>psu</a:t>
            </a:r>
            <a:r>
              <a:rPr sz="800" dirty="0"/>
              <a:t>-failure)</a:t>
            </a:r>
          </a:p>
          <a:p>
            <a:pPr>
              <a:defRPr sz="1200"/>
            </a:pPr>
            <a:r>
              <a:rPr sz="800" dirty="0"/>
              <a:t>    (theory crisp) (score ?score))</a:t>
            </a:r>
          </a:p>
          <a:p>
            <a:pPr>
              <a:defRPr sz="1200"/>
            </a:pPr>
            <a:r>
              <a:rPr sz="800" dirty="0"/>
              <a:t>  (failure-scenario (id </a:t>
            </a:r>
            <a:r>
              <a:rPr sz="800" dirty="0" err="1"/>
              <a:t>psu</a:t>
            </a:r>
            <a:r>
              <a:rPr sz="800" dirty="0"/>
              <a:t>-failure) (name ?name)</a:t>
            </a:r>
          </a:p>
          <a:p>
            <a:pPr>
              <a:defRPr sz="1200"/>
            </a:pPr>
            <a:r>
              <a:rPr sz="800" dirty="0"/>
              <a:t>    (recommended-action ?action))</a:t>
            </a:r>
          </a:p>
          <a:p>
            <a:pPr>
              <a:defRPr sz="1200"/>
            </a:pPr>
            <a:r>
              <a:rPr sz="800" dirty="0"/>
              <a:t>  (test (&lt; ?score 0.97))</a:t>
            </a:r>
          </a:p>
          <a:p>
            <a:pPr>
              <a:defRPr sz="1200"/>
            </a:pPr>
            <a:r>
              <a:rPr sz="800" dirty="0"/>
              <a:t>  =&gt;</a:t>
            </a:r>
          </a:p>
          <a:p>
            <a:pPr>
              <a:defRPr sz="1200"/>
            </a:pPr>
            <a:r>
              <a:rPr sz="800" dirty="0"/>
              <a:t>  (retract ?old)</a:t>
            </a:r>
          </a:p>
          <a:p>
            <a:pPr>
              <a:defRPr sz="1200"/>
            </a:pPr>
            <a:r>
              <a:rPr sz="800" dirty="0"/>
              <a:t>  (assert (diagnostic-conclusion (scenario-id </a:t>
            </a:r>
            <a:r>
              <a:rPr sz="800" dirty="0" err="1"/>
              <a:t>psu</a:t>
            </a:r>
            <a:r>
              <a:rPr sz="800" dirty="0"/>
              <a:t>-failure)</a:t>
            </a:r>
          </a:p>
          <a:p>
            <a:pPr>
              <a:defRPr sz="1200"/>
            </a:pPr>
            <a:r>
              <a:rPr sz="800" dirty="0"/>
              <a:t>    (theory crisp) (score 0.97) (label very-strong)</a:t>
            </a:r>
          </a:p>
          <a:p>
            <a:pPr>
              <a:defRPr sz="1200"/>
            </a:pPr>
            <a:r>
              <a:rPr sz="800" dirty="0"/>
              <a:t>    (rule-id crisp-</a:t>
            </a:r>
            <a:r>
              <a:rPr sz="800" dirty="0" err="1"/>
              <a:t>psu</a:t>
            </a:r>
            <a:r>
              <a:rPr sz="800" dirty="0"/>
              <a:t>-combo) (recommended-action ?action)</a:t>
            </a:r>
          </a:p>
          <a:p>
            <a:pPr>
              <a:defRPr sz="1200"/>
            </a:pPr>
            <a:r>
              <a:rPr sz="800" dirty="0"/>
              <a:t>    (rationale "No power plus POST beeps is stronger combined evidence."))))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Naming Scheme and Programming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Symptom IDs use lowercase hyphenated natural language, for example no-power-at-all.</a:t>
            </a:r>
          </a:p>
          <a:p>
            <a:pPr>
              <a:defRPr sz="1700"/>
            </a:pPr>
            <a:r>
              <a:t>Scenario IDs use component-then-failure style, for example psu-failure.</a:t>
            </a:r>
          </a:p>
          <a:p>
            <a:pPr>
              <a:defRPr sz="1700"/>
            </a:pPr>
            <a:r>
              <a:t>Rule names are prefixed by role: strengthen-crisp-*, cf-*, and fuzzy-*.</a:t>
            </a:r>
          </a:p>
          <a:p>
            <a:pPr>
              <a:defRPr sz="1700"/>
            </a:pPr>
            <a:r>
              <a:t>Module names use hyphenated domain pairs, for example power-motherboard.</a:t>
            </a:r>
          </a:p>
          <a:p>
            <a:pPr>
              <a:defRPr sz="1700"/>
            </a:pPr>
            <a:r>
              <a:t>Facts and rules are kept in separate files, comments are used, whitespace is used consistently, and debugging support is available through CLIPS watch commands.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Knowledge-Base Inventories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symptoms, failure scenarios, crisp indicators, and component facts exactly as they appear in facts.txt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Symptom Catalogue (15 Symptoms)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sz="1100" dirty="0"/>
              <a:t>Power and motherboard:</a:t>
            </a:r>
          </a:p>
          <a:p>
            <a:pPr lvl="1">
              <a:defRPr sz="1400"/>
            </a:pPr>
            <a:r>
              <a:rPr sz="1100" dirty="0"/>
              <a:t>1. no-power-at-all </a:t>
            </a:r>
            <a:r>
              <a:rPr lang="en-CA" sz="1100" dirty="0"/>
              <a:t>-</a:t>
            </a:r>
            <a:r>
              <a:rPr sz="1100" dirty="0"/>
              <a:t> No power at all</a:t>
            </a:r>
          </a:p>
          <a:p>
            <a:pPr lvl="1">
              <a:defRPr sz="1400"/>
            </a:pPr>
            <a:r>
              <a:rPr sz="1100" dirty="0"/>
              <a:t>2. shutdown-under-load </a:t>
            </a:r>
            <a:r>
              <a:rPr lang="en-CA" sz="1100" dirty="0"/>
              <a:t>-</a:t>
            </a:r>
            <a:r>
              <a:rPr sz="1100" dirty="0"/>
              <a:t> Random shutdown under load</a:t>
            </a:r>
          </a:p>
          <a:p>
            <a:pPr lvl="1">
              <a:defRPr sz="1400"/>
            </a:pPr>
            <a:r>
              <a:rPr sz="1100" dirty="0"/>
              <a:t>3. post-beep-codes </a:t>
            </a:r>
            <a:r>
              <a:rPr lang="en-CA" sz="1100" dirty="0"/>
              <a:t>-</a:t>
            </a:r>
            <a:r>
              <a:rPr sz="1100" dirty="0"/>
              <a:t> POST beep codes</a:t>
            </a:r>
          </a:p>
          <a:p>
            <a:pPr lvl="1">
              <a:defRPr sz="1400"/>
            </a:pPr>
            <a:r>
              <a:rPr sz="1100" dirty="0"/>
              <a:t>4. intermittent-power </a:t>
            </a:r>
            <a:r>
              <a:rPr lang="en-CA" sz="1100" dirty="0"/>
              <a:t>-</a:t>
            </a:r>
            <a:r>
              <a:rPr sz="1100" dirty="0"/>
              <a:t> Intermittent power</a:t>
            </a:r>
          </a:p>
          <a:p>
            <a:pPr lvl="1">
              <a:defRPr sz="1400"/>
            </a:pPr>
            <a:r>
              <a:rPr sz="1100" dirty="0"/>
              <a:t>5. time-date-reset </a:t>
            </a:r>
            <a:r>
              <a:rPr lang="en-CA" sz="1100" dirty="0"/>
              <a:t>-</a:t>
            </a:r>
            <a:r>
              <a:rPr sz="1100" dirty="0"/>
              <a:t> Time/date resets</a:t>
            </a:r>
          </a:p>
          <a:p>
            <a:pPr lvl="1">
              <a:defRPr sz="1400"/>
            </a:pPr>
            <a:r>
              <a:rPr sz="1100" dirty="0"/>
              <a:t>6. system-freezes-under-load </a:t>
            </a:r>
            <a:r>
              <a:rPr lang="en-CA" sz="1100" dirty="0"/>
              <a:t>-</a:t>
            </a:r>
            <a:r>
              <a:rPr sz="1100" dirty="0"/>
              <a:t> System freezes under load</a:t>
            </a:r>
          </a:p>
          <a:p>
            <a:pPr>
              <a:defRPr sz="1400"/>
            </a:pPr>
            <a:r>
              <a:rPr sz="1100" dirty="0"/>
              <a:t>Display and graphics:</a:t>
            </a:r>
          </a:p>
          <a:p>
            <a:pPr lvl="1">
              <a:defRPr sz="1400"/>
            </a:pPr>
            <a:r>
              <a:rPr sz="1100" dirty="0"/>
              <a:t>7. no-display-output </a:t>
            </a:r>
            <a:r>
              <a:rPr lang="en-CA" sz="1100" dirty="0"/>
              <a:t>-</a:t>
            </a:r>
            <a:r>
              <a:rPr sz="1100" dirty="0"/>
              <a:t> No display output</a:t>
            </a:r>
          </a:p>
          <a:p>
            <a:pPr lvl="1">
              <a:defRPr sz="1400"/>
            </a:pPr>
            <a:r>
              <a:rPr sz="1100" dirty="0"/>
              <a:t>8. screen-artifacts </a:t>
            </a:r>
            <a:r>
              <a:rPr lang="en-CA" sz="1100" dirty="0"/>
              <a:t>-</a:t>
            </a:r>
            <a:r>
              <a:rPr sz="1100" dirty="0"/>
              <a:t> Screen artifacts</a:t>
            </a:r>
          </a:p>
          <a:p>
            <a:pPr lvl="1">
              <a:defRPr sz="1400"/>
            </a:pPr>
            <a:r>
              <a:rPr sz="1100" dirty="0"/>
              <a:t>9. monitor-not-detected </a:t>
            </a:r>
            <a:r>
              <a:rPr lang="en-CA" sz="1100" dirty="0"/>
              <a:t>-</a:t>
            </a:r>
            <a:r>
              <a:rPr sz="1100" dirty="0"/>
              <a:t> Monitor not detected</a:t>
            </a:r>
          </a:p>
          <a:p>
            <a:pPr lvl="1">
              <a:defRPr sz="1400"/>
            </a:pPr>
            <a:r>
              <a:rPr sz="1100" dirty="0"/>
              <a:t>10. driver-crash-recovery </a:t>
            </a:r>
            <a:r>
              <a:rPr lang="en-CA" sz="1100" dirty="0"/>
              <a:t>-</a:t>
            </a:r>
            <a:r>
              <a:rPr sz="1100" dirty="0"/>
              <a:t> Driver crash/recovery</a:t>
            </a:r>
          </a:p>
          <a:p>
            <a:pPr>
              <a:defRPr sz="1400"/>
            </a:pPr>
            <a:r>
              <a:rPr sz="1100" dirty="0"/>
              <a:t>Memory and storage:</a:t>
            </a:r>
          </a:p>
          <a:p>
            <a:pPr lvl="1">
              <a:defRPr sz="1400"/>
            </a:pPr>
            <a:r>
              <a:rPr sz="1100" dirty="0"/>
              <a:t>11. ram-not-in-bios </a:t>
            </a:r>
            <a:r>
              <a:rPr lang="en-CA" sz="1100" dirty="0"/>
              <a:t>-</a:t>
            </a:r>
            <a:r>
              <a:rPr sz="1100" dirty="0"/>
              <a:t> RAM not detected in BIOS</a:t>
            </a:r>
          </a:p>
          <a:p>
            <a:pPr lvl="1">
              <a:defRPr sz="1400"/>
            </a:pPr>
            <a:r>
              <a:rPr sz="1100" dirty="0"/>
              <a:t>12. blue-screen-crashes </a:t>
            </a:r>
            <a:r>
              <a:rPr lang="en-CA" sz="1100" dirty="0"/>
              <a:t>-</a:t>
            </a:r>
            <a:r>
              <a:rPr sz="1100" dirty="0"/>
              <a:t> Blue screen crashes</a:t>
            </a:r>
          </a:p>
          <a:p>
            <a:pPr lvl="1">
              <a:defRPr sz="1400"/>
            </a:pPr>
            <a:r>
              <a:rPr sz="1100" dirty="0"/>
              <a:t>13. storage-not-detected </a:t>
            </a:r>
            <a:r>
              <a:rPr lang="en-CA" sz="1100" dirty="0"/>
              <a:t>-</a:t>
            </a:r>
            <a:r>
              <a:rPr sz="1100" dirty="0"/>
              <a:t> Storage device not detected</a:t>
            </a:r>
          </a:p>
          <a:p>
            <a:pPr lvl="1">
              <a:defRPr sz="1400"/>
            </a:pPr>
            <a:r>
              <a:rPr sz="1100" dirty="0"/>
              <a:t>14. boot-device-not-found </a:t>
            </a:r>
            <a:r>
              <a:rPr lang="en-CA" sz="1100" dirty="0"/>
              <a:t>-</a:t>
            </a:r>
            <a:r>
              <a:rPr sz="1100" dirty="0"/>
              <a:t> Boot device not found</a:t>
            </a:r>
          </a:p>
          <a:p>
            <a:pPr lvl="1">
              <a:defRPr sz="1400"/>
            </a:pPr>
            <a:r>
              <a:rPr sz="1100" dirty="0"/>
              <a:t>15. slow-storage-access </a:t>
            </a:r>
            <a:r>
              <a:rPr lang="en-CA" sz="1100" dirty="0"/>
              <a:t>-</a:t>
            </a:r>
            <a:r>
              <a:rPr sz="1100" dirty="0"/>
              <a:t> Slow storage access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Failure Scenario Registry I (1–8)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100"/>
            </a:pPr>
            <a:r>
              <a:rPr sz="1000" dirty="0"/>
              <a:t>1. </a:t>
            </a:r>
            <a:r>
              <a:rPr sz="1000" dirty="0" err="1"/>
              <a:t>psu</a:t>
            </a:r>
            <a:r>
              <a:rPr sz="1000" dirty="0"/>
              <a:t>-failure </a:t>
            </a:r>
            <a:r>
              <a:rPr lang="en-CA" sz="1000" dirty="0"/>
              <a:t>-</a:t>
            </a:r>
            <a:r>
              <a:rPr sz="1000" dirty="0"/>
              <a:t> PSU Complete Failure [power-motherboard]</a:t>
            </a:r>
          </a:p>
          <a:p>
            <a:pPr lvl="1">
              <a:defRPr sz="1100"/>
            </a:pPr>
            <a:r>
              <a:rPr sz="1000" dirty="0"/>
              <a:t>Action: Replace PSU. Check power cable and wall outlet first. Test PSU with a PSU tester or known-good spare.</a:t>
            </a:r>
          </a:p>
          <a:p>
            <a:pPr>
              <a:defRPr sz="1100"/>
            </a:pPr>
            <a:r>
              <a:rPr sz="1000" dirty="0"/>
              <a:t>2. </a:t>
            </a:r>
            <a:r>
              <a:rPr sz="1000" dirty="0" err="1"/>
              <a:t>psu</a:t>
            </a:r>
            <a:r>
              <a:rPr sz="1000" dirty="0"/>
              <a:t>-inadequate-wattage </a:t>
            </a:r>
            <a:r>
              <a:rPr lang="en-CA" sz="1000" dirty="0"/>
              <a:t>-</a:t>
            </a:r>
            <a:r>
              <a:rPr sz="1000" dirty="0"/>
              <a:t> PSU Inadequate Wattage [power-motherboard]</a:t>
            </a:r>
          </a:p>
          <a:p>
            <a:pPr lvl="1">
              <a:defRPr sz="1100"/>
            </a:pPr>
            <a:r>
              <a:rPr sz="1000" dirty="0"/>
              <a:t>Action: Estimate system load and upgrade to a PSU with 20–30% headroom.</a:t>
            </a:r>
          </a:p>
          <a:p>
            <a:pPr>
              <a:defRPr sz="1100"/>
            </a:pPr>
            <a:r>
              <a:rPr sz="1000" dirty="0"/>
              <a:t>3. motherboard-post-failure </a:t>
            </a:r>
            <a:r>
              <a:rPr lang="en-CA" sz="1000" dirty="0"/>
              <a:t>-</a:t>
            </a:r>
            <a:r>
              <a:rPr sz="1000" dirty="0"/>
              <a:t> Motherboard POST Error [power-motherboard]</a:t>
            </a:r>
          </a:p>
          <a:p>
            <a:pPr lvl="1">
              <a:defRPr sz="1100"/>
            </a:pPr>
            <a:r>
              <a:rPr sz="1000" dirty="0"/>
              <a:t>Action: Decode the beep pattern with the motherboard manual. Reseat RAM and GPU, then verify CPU power.</a:t>
            </a:r>
          </a:p>
          <a:p>
            <a:pPr>
              <a:defRPr sz="1100"/>
            </a:pPr>
            <a:r>
              <a:rPr sz="1000" dirty="0"/>
              <a:t>4. loose-power-connections </a:t>
            </a:r>
            <a:r>
              <a:rPr lang="en-CA" sz="1000" dirty="0"/>
              <a:t>-</a:t>
            </a:r>
            <a:r>
              <a:rPr sz="1000" dirty="0"/>
              <a:t> Loose Power Connections [power-motherboard]</a:t>
            </a:r>
          </a:p>
          <a:p>
            <a:pPr lvl="1">
              <a:defRPr sz="1100"/>
            </a:pPr>
            <a:r>
              <a:rPr sz="1000" dirty="0"/>
              <a:t>Action: Reseat the 24-pin ATX cable, CPU EPS cable, GPU power leads, and any modular PSU connections.</a:t>
            </a:r>
          </a:p>
          <a:p>
            <a:pPr>
              <a:defRPr sz="1100"/>
            </a:pPr>
            <a:r>
              <a:rPr sz="1000" dirty="0"/>
              <a:t>5. </a:t>
            </a:r>
            <a:r>
              <a:rPr sz="1000" dirty="0" err="1"/>
              <a:t>cmos</a:t>
            </a:r>
            <a:r>
              <a:rPr sz="1000" dirty="0"/>
              <a:t>-battery-dead </a:t>
            </a:r>
            <a:r>
              <a:rPr lang="en-CA" sz="1000" dirty="0"/>
              <a:t>-</a:t>
            </a:r>
            <a:r>
              <a:rPr sz="1000" dirty="0"/>
              <a:t> Dead CMOS Battery [power-motherboard]</a:t>
            </a:r>
          </a:p>
          <a:p>
            <a:pPr lvl="1">
              <a:defRPr sz="1100"/>
            </a:pPr>
            <a:r>
              <a:rPr sz="1000" dirty="0"/>
              <a:t>Action: Replace the CR2032 battery and re-enter BIOS settings if needed.</a:t>
            </a:r>
          </a:p>
          <a:p>
            <a:pPr>
              <a:defRPr sz="1100"/>
            </a:pPr>
            <a:r>
              <a:rPr sz="1000" dirty="0"/>
              <a:t>6. </a:t>
            </a:r>
            <a:r>
              <a:rPr sz="1000" dirty="0" err="1"/>
              <a:t>cpu</a:t>
            </a:r>
            <a:r>
              <a:rPr sz="1000" dirty="0"/>
              <a:t>-overheating </a:t>
            </a:r>
            <a:r>
              <a:rPr lang="en-CA" sz="1000" dirty="0"/>
              <a:t>-</a:t>
            </a:r>
            <a:r>
              <a:rPr sz="1000" dirty="0"/>
              <a:t> CPU or VRM Overheating [power-motherboard]</a:t>
            </a:r>
          </a:p>
          <a:p>
            <a:pPr lvl="1">
              <a:defRPr sz="1100"/>
            </a:pPr>
            <a:r>
              <a:rPr sz="1000" dirty="0"/>
              <a:t>Action: Reseat the cooler, reapply thermal paste, clean dust, and improve case airflow.</a:t>
            </a:r>
          </a:p>
          <a:p>
            <a:pPr>
              <a:defRPr sz="1100"/>
            </a:pPr>
            <a:r>
              <a:rPr sz="1000" dirty="0"/>
              <a:t>7. </a:t>
            </a:r>
            <a:r>
              <a:rPr sz="1000" dirty="0" err="1"/>
              <a:t>gpu</a:t>
            </a:r>
            <a:r>
              <a:rPr sz="1000" dirty="0"/>
              <a:t>-or-cable-failure </a:t>
            </a:r>
            <a:r>
              <a:rPr lang="en-CA" sz="1000" dirty="0"/>
              <a:t>-</a:t>
            </a:r>
            <a:r>
              <a:rPr sz="1000" dirty="0"/>
              <a:t> GPU or Display Cable Failure [display-graphics]</a:t>
            </a:r>
          </a:p>
          <a:p>
            <a:pPr lvl="1">
              <a:defRPr sz="1100"/>
            </a:pPr>
            <a:r>
              <a:rPr sz="1000" dirty="0"/>
              <a:t>Action: Reseat the GPU, try a different display cable or port, and test with integrated graphics if available.</a:t>
            </a:r>
          </a:p>
          <a:p>
            <a:pPr>
              <a:defRPr sz="1100"/>
            </a:pPr>
            <a:r>
              <a:rPr sz="1000" dirty="0"/>
              <a:t>8. </a:t>
            </a:r>
            <a:r>
              <a:rPr sz="1000" dirty="0" err="1"/>
              <a:t>gpu</a:t>
            </a:r>
            <a:r>
              <a:rPr sz="1000" dirty="0"/>
              <a:t>-overheating-or-memory </a:t>
            </a:r>
            <a:r>
              <a:rPr lang="en-CA" sz="1000" dirty="0"/>
              <a:t>-</a:t>
            </a:r>
            <a:r>
              <a:rPr sz="1000" dirty="0"/>
              <a:t> GPU Overheating or Memory Defect [display-graphics]</a:t>
            </a:r>
          </a:p>
          <a:p>
            <a:pPr lvl="1">
              <a:defRPr sz="1100"/>
            </a:pPr>
            <a:r>
              <a:rPr sz="1000" dirty="0"/>
              <a:t>Action: Clean the GPU cooler, monitor temperatures, and stress test. Persistent artifacts often require replacement.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Failure Scenario Registry II (9–15)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rPr sz="1050" dirty="0"/>
              <a:t>9. display-connection-issue </a:t>
            </a:r>
            <a:r>
              <a:rPr lang="en-CA" sz="1050" dirty="0"/>
              <a:t>-</a:t>
            </a:r>
            <a:r>
              <a:rPr sz="1050" dirty="0"/>
              <a:t> Display Connection Issue [display-graphics]</a:t>
            </a:r>
          </a:p>
          <a:p>
            <a:pPr lvl="1">
              <a:defRPr sz="1200"/>
            </a:pPr>
            <a:r>
              <a:rPr sz="1050" dirty="0"/>
              <a:t>Action: Verify the monitor input, reseat the cable, and try a known-good port or cable.</a:t>
            </a:r>
          </a:p>
          <a:p>
            <a:pPr>
              <a:defRPr sz="1200"/>
            </a:pPr>
            <a:r>
              <a:rPr sz="1050" dirty="0"/>
              <a:t>10. </a:t>
            </a:r>
            <a:r>
              <a:rPr sz="1050" dirty="0" err="1"/>
              <a:t>gpu</a:t>
            </a:r>
            <a:r>
              <a:rPr sz="1050" dirty="0"/>
              <a:t>-driver-failure </a:t>
            </a:r>
            <a:r>
              <a:rPr lang="en-CA" sz="1050" dirty="0"/>
              <a:t>-</a:t>
            </a:r>
            <a:r>
              <a:rPr sz="1050" dirty="0"/>
              <a:t> GPU Driver Failure or Instability [display-graphics]</a:t>
            </a:r>
          </a:p>
          <a:p>
            <a:pPr lvl="1">
              <a:defRPr sz="1200"/>
            </a:pPr>
            <a:r>
              <a:rPr sz="1050" dirty="0"/>
              <a:t>Action: Clean reinstall the GPU driver, update firmware if applicable, and check for thermal throttling.</a:t>
            </a:r>
          </a:p>
          <a:p>
            <a:pPr>
              <a:defRPr sz="1200"/>
            </a:pPr>
            <a:r>
              <a:rPr sz="1050" dirty="0"/>
              <a:t>11. ram-seating-or-compatibility </a:t>
            </a:r>
            <a:r>
              <a:rPr lang="en-CA" sz="1050" dirty="0"/>
              <a:t>-</a:t>
            </a:r>
            <a:r>
              <a:rPr sz="1050" dirty="0"/>
              <a:t> RAM Seating or Compatibility Issue [memory-storage]</a:t>
            </a:r>
          </a:p>
          <a:p>
            <a:pPr lvl="1">
              <a:defRPr sz="1200"/>
            </a:pPr>
            <a:r>
              <a:rPr sz="1050" dirty="0"/>
              <a:t>Action: Reseat the DIMMs, use the recommended slots, and verify RAM generation, speed, and XMP compatibility.</a:t>
            </a:r>
          </a:p>
          <a:p>
            <a:pPr>
              <a:defRPr sz="1200"/>
            </a:pPr>
            <a:r>
              <a:rPr sz="1050" dirty="0"/>
              <a:t>12. ram-failure </a:t>
            </a:r>
            <a:r>
              <a:rPr lang="en-CA" sz="1050" dirty="0"/>
              <a:t>-</a:t>
            </a:r>
            <a:r>
              <a:rPr sz="1050" dirty="0"/>
              <a:t> RAM Module Failure [memory-storage]</a:t>
            </a:r>
          </a:p>
          <a:p>
            <a:pPr lvl="1">
              <a:defRPr sz="1200"/>
            </a:pPr>
            <a:r>
              <a:rPr sz="1050" dirty="0"/>
              <a:t>Action: Run MemTest86 and isolate modules one at a time to identify the failing DIMM.</a:t>
            </a:r>
          </a:p>
          <a:p>
            <a:pPr>
              <a:defRPr sz="1200"/>
            </a:pPr>
            <a:r>
              <a:rPr sz="1050" dirty="0"/>
              <a:t>13. storage-connection-failure </a:t>
            </a:r>
            <a:r>
              <a:rPr lang="en-CA" sz="1050" dirty="0"/>
              <a:t>-</a:t>
            </a:r>
            <a:r>
              <a:rPr sz="1050" dirty="0"/>
              <a:t> Storage Connection or Cable Failure [memory-storage]</a:t>
            </a:r>
          </a:p>
          <a:p>
            <a:pPr lvl="1">
              <a:defRPr sz="1200"/>
            </a:pPr>
            <a:r>
              <a:rPr sz="1050" dirty="0"/>
              <a:t>Action: Reseat SATA or </a:t>
            </a:r>
            <a:r>
              <a:rPr sz="1050" dirty="0" err="1"/>
              <a:t>NVMe</a:t>
            </a:r>
            <a:r>
              <a:rPr sz="1050" dirty="0"/>
              <a:t> connections, try a different port, and confirm the drive appears in BIOS.</a:t>
            </a:r>
          </a:p>
          <a:p>
            <a:pPr>
              <a:defRPr sz="1200"/>
            </a:pPr>
            <a:r>
              <a:rPr sz="1050" dirty="0"/>
              <a:t>14. boot-storage-failure </a:t>
            </a:r>
            <a:r>
              <a:rPr lang="en-CA" sz="1050" dirty="0"/>
              <a:t>-</a:t>
            </a:r>
            <a:r>
              <a:rPr sz="1050" dirty="0"/>
              <a:t> Boot Storage Not Found [memory-storage]</a:t>
            </a:r>
          </a:p>
          <a:p>
            <a:pPr lvl="1">
              <a:defRPr sz="1200"/>
            </a:pPr>
            <a:r>
              <a:rPr sz="1050" dirty="0"/>
              <a:t>Action: Check boot order, confirm the boot drive is detected, and repair the bootloader if the drive is healthy.</a:t>
            </a:r>
          </a:p>
          <a:p>
            <a:pPr>
              <a:defRPr sz="1200"/>
            </a:pPr>
            <a:r>
              <a:rPr sz="1050" dirty="0"/>
              <a:t>15. storage-failing </a:t>
            </a:r>
            <a:r>
              <a:rPr lang="en-CA" sz="1050" dirty="0"/>
              <a:t>-</a:t>
            </a:r>
            <a:r>
              <a:rPr sz="1050" dirty="0"/>
              <a:t> Storage Drive Failing [memory-storage]</a:t>
            </a:r>
          </a:p>
          <a:p>
            <a:pPr lvl="1">
              <a:defRPr sz="1200"/>
            </a:pPr>
            <a:r>
              <a:rPr sz="1050" dirty="0"/>
              <a:t>Action: Read SMART data, back up the disk immediately, and prepare to replace the drive.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Crisp Symptom Indicators (15 Mappings)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sz="1100" dirty="0"/>
              <a:t>Power and motherboard:</a:t>
            </a:r>
          </a:p>
          <a:p>
            <a:pPr lvl="1">
              <a:defRPr sz="1400"/>
            </a:pPr>
            <a:r>
              <a:rPr sz="1100" dirty="0"/>
              <a:t>no-power-at-all → </a:t>
            </a:r>
            <a:r>
              <a:rPr sz="1100" dirty="0" err="1"/>
              <a:t>psu</a:t>
            </a:r>
            <a:r>
              <a:rPr sz="1100" dirty="0"/>
              <a:t>-failure (strong)</a:t>
            </a:r>
          </a:p>
          <a:p>
            <a:pPr lvl="1">
              <a:defRPr sz="1400"/>
            </a:pPr>
            <a:r>
              <a:rPr sz="1100" dirty="0"/>
              <a:t>shutdown-under-load → </a:t>
            </a:r>
            <a:r>
              <a:rPr sz="1100" dirty="0" err="1"/>
              <a:t>psu</a:t>
            </a:r>
            <a:r>
              <a:rPr sz="1100" dirty="0"/>
              <a:t>-inadequate-wattage (strong)</a:t>
            </a:r>
          </a:p>
          <a:p>
            <a:pPr lvl="1">
              <a:defRPr sz="1400"/>
            </a:pPr>
            <a:r>
              <a:rPr sz="1100" dirty="0"/>
              <a:t>post-beep-codes → motherboard-post-failure (strong)</a:t>
            </a:r>
          </a:p>
          <a:p>
            <a:pPr lvl="1">
              <a:defRPr sz="1400"/>
            </a:pPr>
            <a:r>
              <a:rPr sz="1100" dirty="0"/>
              <a:t>intermittent-power → loose-power-connections (moderate)</a:t>
            </a:r>
          </a:p>
          <a:p>
            <a:pPr lvl="1">
              <a:defRPr sz="1400"/>
            </a:pPr>
            <a:r>
              <a:rPr sz="1100" dirty="0"/>
              <a:t>time-date-reset → </a:t>
            </a:r>
            <a:r>
              <a:rPr sz="1100" dirty="0" err="1"/>
              <a:t>cmos</a:t>
            </a:r>
            <a:r>
              <a:rPr sz="1100" dirty="0"/>
              <a:t>-battery-dead (strong)</a:t>
            </a:r>
          </a:p>
          <a:p>
            <a:pPr lvl="1">
              <a:defRPr sz="1400"/>
            </a:pPr>
            <a:r>
              <a:rPr sz="1100" dirty="0"/>
              <a:t>system-freezes-under-load → </a:t>
            </a:r>
            <a:r>
              <a:rPr sz="1100" dirty="0" err="1"/>
              <a:t>cpu</a:t>
            </a:r>
            <a:r>
              <a:rPr sz="1100" dirty="0"/>
              <a:t>-overheating (strong)</a:t>
            </a:r>
          </a:p>
          <a:p>
            <a:pPr>
              <a:defRPr sz="1400"/>
            </a:pPr>
            <a:r>
              <a:rPr sz="1100" dirty="0"/>
              <a:t>Display and graphics:</a:t>
            </a:r>
          </a:p>
          <a:p>
            <a:pPr lvl="1">
              <a:defRPr sz="1400"/>
            </a:pPr>
            <a:r>
              <a:rPr sz="1100" dirty="0"/>
              <a:t>no-display-output → </a:t>
            </a:r>
            <a:r>
              <a:rPr sz="1100" dirty="0" err="1"/>
              <a:t>gpu</a:t>
            </a:r>
            <a:r>
              <a:rPr sz="1100" dirty="0"/>
              <a:t>-or-cable-failure (moderate)</a:t>
            </a:r>
          </a:p>
          <a:p>
            <a:pPr lvl="1">
              <a:defRPr sz="1400"/>
            </a:pPr>
            <a:r>
              <a:rPr sz="1100" dirty="0"/>
              <a:t>screen-artifacts → </a:t>
            </a:r>
            <a:r>
              <a:rPr sz="1100" dirty="0" err="1"/>
              <a:t>gpu</a:t>
            </a:r>
            <a:r>
              <a:rPr sz="1100" dirty="0"/>
              <a:t>-overheating-or-memory (strong)</a:t>
            </a:r>
          </a:p>
          <a:p>
            <a:pPr lvl="1">
              <a:defRPr sz="1400"/>
            </a:pPr>
            <a:r>
              <a:rPr sz="1100" dirty="0"/>
              <a:t>monitor-not-detected → display-connection-issue (moderate)</a:t>
            </a:r>
          </a:p>
          <a:p>
            <a:pPr lvl="1">
              <a:defRPr sz="1400"/>
            </a:pPr>
            <a:r>
              <a:rPr sz="1100" dirty="0"/>
              <a:t>driver-crash-recovery → </a:t>
            </a:r>
            <a:r>
              <a:rPr sz="1100" dirty="0" err="1"/>
              <a:t>gpu</a:t>
            </a:r>
            <a:r>
              <a:rPr sz="1100" dirty="0"/>
              <a:t>-driver-failure (strong)</a:t>
            </a:r>
          </a:p>
          <a:p>
            <a:pPr>
              <a:defRPr sz="1400"/>
            </a:pPr>
            <a:r>
              <a:rPr sz="1100" dirty="0"/>
              <a:t>Memory and storage:</a:t>
            </a:r>
          </a:p>
          <a:p>
            <a:pPr lvl="1">
              <a:defRPr sz="1400"/>
            </a:pPr>
            <a:r>
              <a:rPr sz="1100" dirty="0"/>
              <a:t>ram-not-in-bios → ram-seating-or-compatibility (strong)</a:t>
            </a:r>
          </a:p>
          <a:p>
            <a:pPr lvl="1">
              <a:defRPr sz="1400"/>
            </a:pPr>
            <a:r>
              <a:rPr sz="1100" dirty="0"/>
              <a:t>blue-screen-crashes → ram-failure (strong)</a:t>
            </a:r>
          </a:p>
          <a:p>
            <a:pPr lvl="1">
              <a:defRPr sz="1400"/>
            </a:pPr>
            <a:r>
              <a:rPr sz="1100" dirty="0"/>
              <a:t>storage-not-detected → storage-connection-failure (strong)</a:t>
            </a:r>
          </a:p>
          <a:p>
            <a:pPr lvl="1">
              <a:defRPr sz="1400"/>
            </a:pPr>
            <a:r>
              <a:rPr sz="1100" dirty="0"/>
              <a:t>boot-device-not-found → boot-storage-failure (strong)</a:t>
            </a:r>
          </a:p>
          <a:p>
            <a:pPr lvl="1">
              <a:defRPr sz="1400"/>
            </a:pPr>
            <a:r>
              <a:rPr sz="1100" dirty="0"/>
              <a:t>slow-storage-access → storage-failing (moderate)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Facts (5 Components)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PSU </a:t>
            </a:r>
            <a:r>
              <a:rPr lang="en-CA" dirty="0"/>
              <a:t>-</a:t>
            </a:r>
            <a:r>
              <a:rPr dirty="0"/>
              <a:t> type: power </a:t>
            </a:r>
            <a:r>
              <a:rPr lang="en-CA" dirty="0"/>
              <a:t>-</a:t>
            </a:r>
            <a:r>
              <a:rPr dirty="0"/>
              <a:t> failure-mode: No output, inadequate wattage, voltage instability</a:t>
            </a:r>
          </a:p>
          <a:p>
            <a:pPr>
              <a:defRPr sz="1600"/>
            </a:pPr>
            <a:r>
              <a:rPr dirty="0"/>
              <a:t>Motherboard </a:t>
            </a:r>
            <a:r>
              <a:rPr lang="en-CA" dirty="0"/>
              <a:t>-</a:t>
            </a:r>
            <a:r>
              <a:rPr dirty="0"/>
              <a:t> type: motherboard </a:t>
            </a:r>
            <a:r>
              <a:rPr lang="en-CA" dirty="0"/>
              <a:t>-</a:t>
            </a:r>
            <a:r>
              <a:rPr dirty="0"/>
              <a:t> failure-mode: POST failures, power delivery faults, CMOS issues</a:t>
            </a:r>
          </a:p>
          <a:p>
            <a:pPr>
              <a:defRPr sz="1600"/>
            </a:pPr>
            <a:r>
              <a:rPr dirty="0"/>
              <a:t>GPU </a:t>
            </a:r>
            <a:r>
              <a:rPr lang="en-CA" dirty="0"/>
              <a:t>-</a:t>
            </a:r>
            <a:r>
              <a:rPr dirty="0"/>
              <a:t> type: display </a:t>
            </a:r>
            <a:r>
              <a:rPr lang="en-CA" dirty="0"/>
              <a:t>-</a:t>
            </a:r>
            <a:r>
              <a:rPr dirty="0"/>
              <a:t> failure-mode: No output, overheating, memory defects, driver instability</a:t>
            </a:r>
          </a:p>
          <a:p>
            <a:pPr>
              <a:defRPr sz="1600"/>
            </a:pPr>
            <a:r>
              <a:rPr dirty="0"/>
              <a:t>RAM </a:t>
            </a:r>
            <a:r>
              <a:rPr lang="en-CA" dirty="0"/>
              <a:t>-</a:t>
            </a:r>
            <a:r>
              <a:rPr dirty="0"/>
              <a:t> type: memory </a:t>
            </a:r>
            <a:r>
              <a:rPr lang="en-CA" dirty="0"/>
              <a:t>-</a:t>
            </a:r>
            <a:r>
              <a:rPr dirty="0"/>
              <a:t> failure-mode: Not detected, parity errors, instability under load</a:t>
            </a:r>
          </a:p>
          <a:p>
            <a:pPr>
              <a:defRPr sz="1600"/>
            </a:pPr>
            <a:r>
              <a:rPr dirty="0"/>
              <a:t>Storage </a:t>
            </a:r>
            <a:r>
              <a:rPr lang="en-CA" dirty="0"/>
              <a:t>-</a:t>
            </a:r>
            <a:r>
              <a:rPr dirty="0"/>
              <a:t> type: storage </a:t>
            </a:r>
            <a:r>
              <a:rPr lang="en-CA" dirty="0"/>
              <a:t>-</a:t>
            </a:r>
            <a:r>
              <a:rPr dirty="0"/>
              <a:t> failure-mode: Not detected, bad sectors, boot failure, degraded throughput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TODO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Probabilistic uncertainty implemented with Certainty Factors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TODO 2: Requirement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The rubric requires modifying K by probabilistically uncertain knowledge using Certainty Factors Theory or Dempster-Shafer Theory.</a:t>
            </a:r>
          </a:p>
          <a:p>
            <a:pPr>
              <a:defRPr sz="1700"/>
            </a:pPr>
            <a:r>
              <a:t>This project chose Certainty Factors Theory.</a:t>
            </a:r>
          </a:p>
          <a:p>
            <a:pPr>
              <a:defRPr sz="1700"/>
            </a:pPr>
            <a:r>
              <a:t>The rubric also requires at least 5 useful facts and at least 10 useful rules for this uncertainty layer.</a:t>
            </a:r>
          </a:p>
          <a:p>
            <a:pPr>
              <a:defRPr sz="1700"/>
            </a:pPr>
            <a:r>
              <a:t>The implementation exceeds those minimums with 15 probabilistic facts and 13 probabilistic rules.</a:t>
            </a:r>
          </a:p>
          <a:p>
            <a:pPr>
              <a:defRPr sz="1700"/>
            </a:pPr>
            <a:r>
              <a:t>These additions revise and extend the original Deliverable 1 collection of facts and rules rather than replacing it.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Certainty Factors: Theory and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800"/>
            </a:pPr>
            <a:r>
              <a:t>Why Certainty Factors</a:t>
            </a:r>
          </a:p>
          <a:p>
            <a:pPr lvl="1">
              <a:defRPr sz="1800"/>
            </a:pPr>
            <a:r>
              <a:t>Fits the original symptom-to-diagnosis style of D1</a:t>
            </a:r>
          </a:p>
          <a:p>
            <a:pPr lvl="1">
              <a:defRPr sz="1800"/>
            </a:pPr>
            <a:r>
              <a:t>Lets the user express partial confidence in symptoms</a:t>
            </a:r>
          </a:p>
          <a:p>
            <a:pPr lvl="1">
              <a:defRPr sz="1800"/>
            </a:pPr>
            <a:r>
              <a:t>Simple enough to implement and explain in CLIPS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1800"/>
            </a:pPr>
            <a:r>
              <a:t>Inference model</a:t>
            </a:r>
          </a:p>
          <a:p>
            <a:pPr lvl="1">
              <a:defRPr sz="1800"/>
            </a:pPr>
            <a:r>
              <a:t>Single evidence: CF(conclusion) = CF(user) × CF(rule weight)</a:t>
            </a:r>
          </a:p>
          <a:p>
            <a:pPr lvl="1">
              <a:defRPr sz="1800"/>
            </a:pPr>
            <a:r>
              <a:t>Combined: CFcombined = CF1 + CF2 × (1 − CF1)</a:t>
            </a:r>
          </a:p>
          <a:p>
            <a:pPr lvl="1">
              <a:defRPr sz="1800"/>
            </a:pPr>
            <a:r>
              <a:t>Implemented through clamp-score and combine-cf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Certainty Factors: Facts Added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15 cf-evidence facts were added across all hardware modules.</a:t>
            </a:r>
          </a:p>
          <a:p>
            <a:pPr>
              <a:defRPr sz="1700"/>
            </a:pPr>
            <a:r>
              <a:t>Each probabilistic fact stores a symptom-id, a scenario-id, a numeric weight, and a textual rationale.</a:t>
            </a:r>
          </a:p>
          <a:p>
            <a:pPr>
              <a:defRPr sz="1700"/>
            </a:pPr>
            <a:r>
              <a:t>Weights range from 0.60 (moderate support) to 0.95 (very strong support) and reflect how directly a symptom implies a hardware failure.</a:t>
            </a:r>
          </a:p>
          <a:p>
            <a:pPr>
              <a:defRPr sz="1700"/>
            </a:pPr>
            <a:r>
              <a:t>Each fact is explainable: the rationale field explains why the weight was chosen.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Certainty Factors: Complete Evidence Inventory with Weights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sz="1000" dirty="0"/>
              <a:t>1.  no-power-at-all → </a:t>
            </a:r>
            <a:r>
              <a:rPr sz="1000" dirty="0" err="1"/>
              <a:t>psu</a:t>
            </a:r>
            <a:r>
              <a:rPr sz="1000" dirty="0"/>
              <a:t>-failure (weight 0.95)</a:t>
            </a:r>
          </a:p>
          <a:p>
            <a:pPr>
              <a:defRPr sz="1400"/>
            </a:pPr>
            <a:r>
              <a:rPr sz="1000" dirty="0"/>
              <a:t>2.  shutdown-under-load → </a:t>
            </a:r>
            <a:r>
              <a:rPr sz="1000" dirty="0" err="1"/>
              <a:t>psu</a:t>
            </a:r>
            <a:r>
              <a:rPr sz="1000" dirty="0"/>
              <a:t>-inadequate-wattage (0.80)</a:t>
            </a:r>
          </a:p>
          <a:p>
            <a:pPr>
              <a:defRPr sz="1400"/>
            </a:pPr>
            <a:r>
              <a:rPr sz="1000" dirty="0"/>
              <a:t>3.  post-beep-codes → motherboard-post-failure (0.88)</a:t>
            </a:r>
          </a:p>
          <a:p>
            <a:pPr>
              <a:defRPr sz="1400"/>
            </a:pPr>
            <a:r>
              <a:rPr sz="1000" dirty="0"/>
              <a:t>4.  intermittent-power → loose-power-connections (0.65)</a:t>
            </a:r>
          </a:p>
          <a:p>
            <a:pPr>
              <a:defRPr sz="1400"/>
            </a:pPr>
            <a:r>
              <a:rPr sz="1000" dirty="0"/>
              <a:t>5.  time-date-reset → </a:t>
            </a:r>
            <a:r>
              <a:rPr sz="1000" dirty="0" err="1"/>
              <a:t>cmos</a:t>
            </a:r>
            <a:r>
              <a:rPr sz="1000" dirty="0"/>
              <a:t>-battery-dead (0.92)</a:t>
            </a:r>
          </a:p>
          <a:p>
            <a:pPr>
              <a:defRPr sz="1400"/>
            </a:pPr>
            <a:r>
              <a:rPr sz="1000" dirty="0"/>
              <a:t>6.  system-freezes-under-load → </a:t>
            </a:r>
            <a:r>
              <a:rPr sz="1000" dirty="0" err="1"/>
              <a:t>cpu</a:t>
            </a:r>
            <a:r>
              <a:rPr sz="1000" dirty="0"/>
              <a:t>-overheating (0.78)</a:t>
            </a:r>
          </a:p>
          <a:p>
            <a:pPr>
              <a:defRPr sz="1400"/>
            </a:pPr>
            <a:r>
              <a:rPr sz="1000" dirty="0"/>
              <a:t>7.  no-display-output → </a:t>
            </a:r>
            <a:r>
              <a:rPr sz="1000" dirty="0" err="1"/>
              <a:t>gpu</a:t>
            </a:r>
            <a:r>
              <a:rPr sz="1000" dirty="0"/>
              <a:t>-or-cable-failure (0.60)</a:t>
            </a:r>
          </a:p>
          <a:p>
            <a:pPr>
              <a:defRPr sz="1400"/>
            </a:pPr>
            <a:r>
              <a:rPr sz="1000" dirty="0"/>
              <a:t>8.  screen-artifacts → </a:t>
            </a:r>
            <a:r>
              <a:rPr sz="1000" dirty="0" err="1"/>
              <a:t>gpu</a:t>
            </a:r>
            <a:r>
              <a:rPr sz="1000" dirty="0"/>
              <a:t>-overheating-or-memory (0.86)</a:t>
            </a:r>
          </a:p>
          <a:p>
            <a:pPr>
              <a:defRPr sz="1400"/>
            </a:pPr>
            <a:r>
              <a:rPr sz="1000" dirty="0"/>
              <a:t>9.  monitor-not-detected → display-connection-issue (0.68)</a:t>
            </a:r>
          </a:p>
          <a:p>
            <a:pPr>
              <a:defRPr sz="1400"/>
            </a:pPr>
            <a:r>
              <a:rPr sz="1000" dirty="0"/>
              <a:t>10. driver-crash-recovery → </a:t>
            </a:r>
            <a:r>
              <a:rPr sz="1000" dirty="0" err="1"/>
              <a:t>gpu</a:t>
            </a:r>
            <a:r>
              <a:rPr sz="1000" dirty="0"/>
              <a:t>-driver-failure (0.78)</a:t>
            </a:r>
          </a:p>
          <a:p>
            <a:pPr>
              <a:defRPr sz="1400"/>
            </a:pPr>
            <a:r>
              <a:rPr sz="1000" dirty="0"/>
              <a:t>11. ram-not-in-bios → ram-seating-or-compatibility (0.82)</a:t>
            </a:r>
          </a:p>
          <a:p>
            <a:pPr>
              <a:defRPr sz="1400"/>
            </a:pPr>
            <a:r>
              <a:rPr sz="1000" dirty="0"/>
              <a:t>12. blue-screen-crashes → ram-failure (0.76)</a:t>
            </a:r>
          </a:p>
          <a:p>
            <a:pPr>
              <a:defRPr sz="1400"/>
            </a:pPr>
            <a:r>
              <a:rPr sz="1000" dirty="0"/>
              <a:t>13. storage-not-detected → storage-connection-failure (0.90)</a:t>
            </a:r>
          </a:p>
          <a:p>
            <a:pPr>
              <a:defRPr sz="1400"/>
            </a:pPr>
            <a:r>
              <a:rPr sz="1000" dirty="0"/>
              <a:t>14. boot-device-not-found → boot-storage-failure (0.84)</a:t>
            </a:r>
          </a:p>
          <a:p>
            <a:pPr>
              <a:defRPr sz="1400"/>
            </a:pPr>
            <a:r>
              <a:rPr sz="1000" dirty="0"/>
              <a:t>15. slow-storage-access → storage-failing (0.70)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Certainty Factors: CF Evidence Rationales (Representative)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no-power-at-all (0.95): "A system with absolutely no power is very strong evidence for complete PSU failure."</a:t>
            </a:r>
          </a:p>
          <a:p>
            <a:pPr>
              <a:defRPr sz="1400"/>
            </a:pPr>
            <a:r>
              <a:t>shutdown-under-load (0.80): "Load-triggered shutdowns strongly support inadequate PSU headroom or unstable power delivery."</a:t>
            </a:r>
          </a:p>
          <a:p>
            <a:pPr>
              <a:defRPr sz="1400"/>
            </a:pPr>
            <a:r>
              <a:t>screen-artifacts (0.86): "Artifacts strongly support GPU memory corruption or overheating."</a:t>
            </a:r>
          </a:p>
          <a:p>
            <a:pPr>
              <a:defRPr sz="1400"/>
            </a:pPr>
            <a:r>
              <a:t>storage-not-detected (0.90): "A missing drive is very strong evidence for a cable, port, or seating problem."</a:t>
            </a:r>
          </a:p>
          <a:p>
            <a:pPr>
              <a:defRPr sz="1400"/>
            </a:pPr>
            <a:r>
              <a:t>blue-screen-crashes (0.76): "Frequent blue screens are significant evidence for memory instability or outright RAM failure."</a:t>
            </a:r>
          </a:p>
          <a:p>
            <a:pPr>
              <a:defRPr sz="1400"/>
            </a:pPr>
            <a:r>
              <a:t>The remaining 10 rationales follow the same pattern and are stored in facts.txt.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Certainty Factors: Rules Added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13 Certainty Factor rules were added in total.</a:t>
            </a:r>
          </a:p>
          <a:p>
            <a:pPr>
              <a:defRPr sz="1700"/>
            </a:pPr>
            <a:r>
              <a:t>10 single-evidence rules: each maps one reported symptom to one scenario, computing CF(conclusion) = user-cf × rule-weight.</a:t>
            </a:r>
          </a:p>
          <a:p>
            <a:pPr>
              <a:defRPr sz="1700"/>
            </a:pPr>
            <a:r>
              <a:t>3 combination rules: cf-psu-combination, cf-gpu-combination, and cf-storage-combination use the combining formula CFcombined = CF1 + CF2 × (1 − CF1) when compatible evidence co-occurs.</a:t>
            </a:r>
          </a:p>
          <a:p>
            <a:pPr>
              <a:defRPr sz="1700"/>
            </a:pPr>
            <a:r>
              <a:t>These rules produce actual numeric support rather than only reusing symbolic D1 labels.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Certainty Factors: Full Rule Inventory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Single-evidence rules (10):</a:t>
            </a:r>
          </a:p>
          <a:p>
            <a:pPr lvl="1">
              <a:defRPr sz="1300"/>
            </a:pPr>
            <a:r>
              <a:t>cf-psu-failure-from-no-power</a:t>
            </a:r>
          </a:p>
          <a:p>
            <a:pPr lvl="1">
              <a:defRPr sz="1300"/>
            </a:pPr>
            <a:r>
              <a:t>cf-psu-wattage-from-shutdown</a:t>
            </a:r>
          </a:p>
          <a:p>
            <a:pPr lvl="1">
              <a:defRPr sz="1300"/>
            </a:pPr>
            <a:r>
              <a:t>cf-motherboard-from-post</a:t>
            </a:r>
          </a:p>
          <a:p>
            <a:pPr lvl="1">
              <a:defRPr sz="1300"/>
            </a:pPr>
            <a:r>
              <a:t>cf-cmos-from-clock-reset</a:t>
            </a:r>
          </a:p>
          <a:p>
            <a:pPr lvl="1">
              <a:defRPr sz="1300"/>
            </a:pPr>
            <a:r>
              <a:t>cf-cpu-overheating-from-freezes</a:t>
            </a:r>
          </a:p>
          <a:p>
            <a:pPr lvl="1">
              <a:defRPr sz="1300"/>
            </a:pPr>
            <a:r>
              <a:t>cf-gpu-from-artifacts</a:t>
            </a:r>
          </a:p>
          <a:p>
            <a:pPr lvl="1">
              <a:defRPr sz="1300"/>
            </a:pPr>
            <a:r>
              <a:t>cf-gpu-driver-from-crashes</a:t>
            </a:r>
          </a:p>
          <a:p>
            <a:pPr lvl="1">
              <a:defRPr sz="1300"/>
            </a:pPr>
            <a:r>
              <a:t>cf-ram-from-blue-screen</a:t>
            </a:r>
          </a:p>
          <a:p>
            <a:pPr lvl="1">
              <a:defRPr sz="1300"/>
            </a:pPr>
            <a:r>
              <a:t>cf-storage-connection-from-missing-drive</a:t>
            </a:r>
          </a:p>
          <a:p>
            <a:pPr lvl="1">
              <a:defRPr sz="1300"/>
            </a:pPr>
            <a:r>
              <a:t>cf-storage-failing-from-slow-drive</a:t>
            </a:r>
          </a:p>
          <a:p>
            <a:pPr>
              <a:defRPr sz="1300"/>
            </a:pPr>
            <a:r>
              <a:t>Combination rules (3):</a:t>
            </a:r>
          </a:p>
          <a:p>
            <a:pPr lvl="1">
              <a:defRPr sz="1300"/>
            </a:pPr>
            <a:r>
              <a:t>cf-psu-combination (shutdown + intermittent → psu-inadequate-wattage)</a:t>
            </a:r>
          </a:p>
          <a:p>
            <a:pPr lvl="1">
              <a:defRPr sz="1300"/>
            </a:pPr>
            <a:r>
              <a:t>cf-gpu-combination (no-display + artifacts → gpu-overheating-or-memory)</a:t>
            </a:r>
          </a:p>
          <a:p>
            <a:pPr lvl="1">
              <a:defRPr sz="1300"/>
            </a:pPr>
            <a:r>
              <a:t>cf-storage-combination (storage-not-detected + boot-not-found → storage-connection-failure)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CLIPS Code: Representative Certainty Factor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rPr sz="1000" dirty="0"/>
              <a:t>(</a:t>
            </a:r>
            <a:r>
              <a:rPr sz="1000" dirty="0" err="1"/>
              <a:t>defrule</a:t>
            </a:r>
            <a:r>
              <a:rPr sz="1000" dirty="0"/>
              <a:t> </a:t>
            </a:r>
            <a:r>
              <a:rPr sz="1000" dirty="0" err="1"/>
              <a:t>cf</a:t>
            </a:r>
            <a:r>
              <a:rPr sz="1000" dirty="0"/>
              <a:t>-</a:t>
            </a:r>
            <a:r>
              <a:rPr sz="1000" dirty="0" err="1"/>
              <a:t>psu</a:t>
            </a:r>
            <a:r>
              <a:rPr sz="1000" dirty="0"/>
              <a:t>-failure-from-no-power</a:t>
            </a:r>
          </a:p>
          <a:p>
            <a:pPr>
              <a:defRPr sz="1200"/>
            </a:pPr>
            <a:r>
              <a:rPr sz="1000" dirty="0"/>
              <a:t>  (reported-symptom (symptom-id no-power-at-all)</a:t>
            </a:r>
          </a:p>
          <a:p>
            <a:pPr>
              <a:defRPr sz="1200"/>
            </a:pPr>
            <a:r>
              <a:rPr sz="1000" dirty="0"/>
              <a:t>    (observed yes) (user-</a:t>
            </a:r>
            <a:r>
              <a:rPr sz="1000" dirty="0" err="1"/>
              <a:t>cf</a:t>
            </a:r>
            <a:r>
              <a:rPr sz="1000" dirty="0"/>
              <a:t> ?user))</a:t>
            </a:r>
          </a:p>
          <a:p>
            <a:pPr>
              <a:defRPr sz="1200"/>
            </a:pPr>
            <a:r>
              <a:rPr sz="1000" dirty="0"/>
              <a:t>  (</a:t>
            </a:r>
            <a:r>
              <a:rPr sz="1000" dirty="0" err="1"/>
              <a:t>cf</a:t>
            </a:r>
            <a:r>
              <a:rPr sz="1000" dirty="0"/>
              <a:t>-evidence (symptom-id no-power-at-all)</a:t>
            </a:r>
          </a:p>
          <a:p>
            <a:pPr>
              <a:defRPr sz="1200"/>
            </a:pPr>
            <a:r>
              <a:rPr sz="1000" dirty="0"/>
              <a:t>    (scenario-id </a:t>
            </a:r>
            <a:r>
              <a:rPr sz="1000" dirty="0" err="1"/>
              <a:t>psu</a:t>
            </a:r>
            <a:r>
              <a:rPr sz="1000" dirty="0"/>
              <a:t>-failure) (weight ?weight) (rationale ?why))</a:t>
            </a:r>
          </a:p>
          <a:p>
            <a:pPr>
              <a:defRPr sz="1200"/>
            </a:pPr>
            <a:r>
              <a:rPr sz="1000" dirty="0"/>
              <a:t>  (failure-scenario (id </a:t>
            </a:r>
            <a:r>
              <a:rPr sz="1000" dirty="0" err="1"/>
              <a:t>psu</a:t>
            </a:r>
            <a:r>
              <a:rPr sz="1000" dirty="0"/>
              <a:t>-failure)</a:t>
            </a:r>
          </a:p>
          <a:p>
            <a:pPr>
              <a:defRPr sz="1200"/>
            </a:pPr>
            <a:r>
              <a:rPr sz="1000" dirty="0"/>
              <a:t>    (name ?name) (recommended-action ?action))</a:t>
            </a:r>
          </a:p>
          <a:p>
            <a:pPr>
              <a:defRPr sz="1200"/>
            </a:pPr>
            <a:r>
              <a:rPr sz="1000" dirty="0"/>
              <a:t>  (not (diagnostic-conclusion (rule-id </a:t>
            </a:r>
            <a:r>
              <a:rPr sz="1000" dirty="0" err="1"/>
              <a:t>cf</a:t>
            </a:r>
            <a:r>
              <a:rPr sz="1000" dirty="0"/>
              <a:t>-</a:t>
            </a:r>
            <a:r>
              <a:rPr sz="1000" dirty="0" err="1"/>
              <a:t>psu</a:t>
            </a:r>
            <a:r>
              <a:rPr sz="1000" dirty="0"/>
              <a:t>-no-power)))</a:t>
            </a:r>
          </a:p>
          <a:p>
            <a:pPr>
              <a:defRPr sz="1200"/>
            </a:pPr>
            <a:r>
              <a:rPr sz="1000" dirty="0"/>
              <a:t>  =&gt;</a:t>
            </a:r>
          </a:p>
          <a:p>
            <a:pPr>
              <a:defRPr sz="1200"/>
            </a:pPr>
            <a:r>
              <a:rPr sz="1000" dirty="0"/>
              <a:t>  (bind ?score (clamp-score (* ?user ?weight)))</a:t>
            </a:r>
          </a:p>
          <a:p>
            <a:pPr>
              <a:defRPr sz="1200"/>
            </a:pPr>
            <a:r>
              <a:rPr sz="1000" dirty="0"/>
              <a:t>  (assert (diagnostic-conclusion</a:t>
            </a:r>
          </a:p>
          <a:p>
            <a:pPr>
              <a:defRPr sz="1200"/>
            </a:pPr>
            <a:r>
              <a:rPr sz="1000" dirty="0"/>
              <a:t>    (scenario-id </a:t>
            </a:r>
            <a:r>
              <a:rPr sz="1000" dirty="0" err="1"/>
              <a:t>psu</a:t>
            </a:r>
            <a:r>
              <a:rPr sz="1000" dirty="0"/>
              <a:t>-failure) (theory probabilistic)</a:t>
            </a:r>
          </a:p>
          <a:p>
            <a:pPr>
              <a:defRPr sz="1200"/>
            </a:pPr>
            <a:r>
              <a:rPr sz="1000" dirty="0"/>
              <a:t>    (score ?score) (label (score-label ?score))</a:t>
            </a:r>
          </a:p>
          <a:p>
            <a:pPr>
              <a:defRPr sz="1200"/>
            </a:pPr>
            <a:r>
              <a:rPr sz="1000" dirty="0"/>
              <a:t>    (rule-id </a:t>
            </a:r>
            <a:r>
              <a:rPr sz="1000" dirty="0" err="1"/>
              <a:t>cf</a:t>
            </a:r>
            <a:r>
              <a:rPr sz="1000" dirty="0"/>
              <a:t>-</a:t>
            </a:r>
            <a:r>
              <a:rPr sz="1000" dirty="0" err="1"/>
              <a:t>psu</a:t>
            </a:r>
            <a:r>
              <a:rPr sz="1000" dirty="0"/>
              <a:t>-no-power)</a:t>
            </a:r>
          </a:p>
          <a:p>
            <a:pPr>
              <a:defRPr sz="1200"/>
            </a:pPr>
            <a:r>
              <a:rPr sz="1000" dirty="0"/>
              <a:t>    (recommended-action ?action) (rationale ?why))))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CLIPS Code: Representative Combination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rPr sz="700" dirty="0"/>
              <a:t>(</a:t>
            </a:r>
            <a:r>
              <a:rPr sz="700" dirty="0" err="1"/>
              <a:t>defrule</a:t>
            </a:r>
            <a:r>
              <a:rPr sz="700" dirty="0"/>
              <a:t> </a:t>
            </a:r>
            <a:r>
              <a:rPr sz="700" dirty="0" err="1"/>
              <a:t>cf</a:t>
            </a:r>
            <a:r>
              <a:rPr sz="700" dirty="0"/>
              <a:t>-</a:t>
            </a:r>
            <a:r>
              <a:rPr sz="700" dirty="0" err="1"/>
              <a:t>psu</a:t>
            </a:r>
            <a:r>
              <a:rPr sz="700" dirty="0"/>
              <a:t>-combination</a:t>
            </a:r>
          </a:p>
          <a:p>
            <a:pPr>
              <a:defRPr sz="1200"/>
            </a:pPr>
            <a:r>
              <a:rPr sz="700" dirty="0"/>
              <a:t>  "Combines two partially independent power symptoms."</a:t>
            </a:r>
          </a:p>
          <a:p>
            <a:pPr>
              <a:defRPr sz="1200"/>
            </a:pPr>
            <a:r>
              <a:rPr sz="700" dirty="0"/>
              <a:t>  (reported-symptom (symptom-id shutdown-under-load)</a:t>
            </a:r>
          </a:p>
          <a:p>
            <a:pPr>
              <a:defRPr sz="1200"/>
            </a:pPr>
            <a:r>
              <a:rPr sz="700" dirty="0"/>
              <a:t>    (observed yes) (user-</a:t>
            </a:r>
            <a:r>
              <a:rPr sz="700" dirty="0" err="1"/>
              <a:t>cf</a:t>
            </a:r>
            <a:r>
              <a:rPr sz="700" dirty="0"/>
              <a:t> ?cf1))</a:t>
            </a:r>
          </a:p>
          <a:p>
            <a:pPr>
              <a:defRPr sz="1200"/>
            </a:pPr>
            <a:r>
              <a:rPr sz="700" dirty="0"/>
              <a:t>  (reported-symptom (symptom-id intermittent-power)</a:t>
            </a:r>
          </a:p>
          <a:p>
            <a:pPr>
              <a:defRPr sz="1200"/>
            </a:pPr>
            <a:r>
              <a:rPr sz="700" dirty="0"/>
              <a:t>    (observed yes) (user-</a:t>
            </a:r>
            <a:r>
              <a:rPr sz="700" dirty="0" err="1"/>
              <a:t>cf</a:t>
            </a:r>
            <a:r>
              <a:rPr sz="700" dirty="0"/>
              <a:t> ?cf2))</a:t>
            </a:r>
          </a:p>
          <a:p>
            <a:pPr>
              <a:defRPr sz="1200"/>
            </a:pPr>
            <a:r>
              <a:rPr sz="700" dirty="0"/>
              <a:t>  (</a:t>
            </a:r>
            <a:r>
              <a:rPr sz="700" dirty="0" err="1"/>
              <a:t>cf</a:t>
            </a:r>
            <a:r>
              <a:rPr sz="700" dirty="0"/>
              <a:t>-evidence (symptom-id shutdown-under-load)</a:t>
            </a:r>
          </a:p>
          <a:p>
            <a:pPr>
              <a:defRPr sz="1200"/>
            </a:pPr>
            <a:r>
              <a:rPr sz="700" dirty="0"/>
              <a:t>    (scenario-id </a:t>
            </a:r>
            <a:r>
              <a:rPr sz="700" dirty="0" err="1"/>
              <a:t>psu</a:t>
            </a:r>
            <a:r>
              <a:rPr sz="700" dirty="0"/>
              <a:t>-inadequate-wattage) (weight ?w1))</a:t>
            </a:r>
          </a:p>
          <a:p>
            <a:pPr>
              <a:defRPr sz="1200"/>
            </a:pPr>
            <a:r>
              <a:rPr sz="700" dirty="0"/>
              <a:t>  (</a:t>
            </a:r>
            <a:r>
              <a:rPr sz="700" dirty="0" err="1"/>
              <a:t>cf</a:t>
            </a:r>
            <a:r>
              <a:rPr sz="700" dirty="0"/>
              <a:t>-evidence (symptom-id intermittent-power)</a:t>
            </a:r>
          </a:p>
          <a:p>
            <a:pPr>
              <a:defRPr sz="1200"/>
            </a:pPr>
            <a:r>
              <a:rPr sz="700" dirty="0"/>
              <a:t>    (scenario-id loose-power-connections) (weight ?w2))</a:t>
            </a:r>
          </a:p>
          <a:p>
            <a:pPr>
              <a:defRPr sz="1200"/>
            </a:pPr>
            <a:r>
              <a:rPr sz="700" dirty="0"/>
              <a:t>  (failure-scenario (id </a:t>
            </a:r>
            <a:r>
              <a:rPr sz="700" dirty="0" err="1"/>
              <a:t>psu</a:t>
            </a:r>
            <a:r>
              <a:rPr sz="700" dirty="0"/>
              <a:t>-inadequate-wattage)</a:t>
            </a:r>
          </a:p>
          <a:p>
            <a:pPr>
              <a:defRPr sz="1200"/>
            </a:pPr>
            <a:r>
              <a:rPr sz="700" dirty="0"/>
              <a:t>    (name ?name) (recommended-action ?action))</a:t>
            </a:r>
          </a:p>
          <a:p>
            <a:pPr>
              <a:defRPr sz="1200"/>
            </a:pPr>
            <a:r>
              <a:rPr sz="700" dirty="0"/>
              <a:t>  (not (diagnostic-conclusion (rule-id </a:t>
            </a:r>
            <a:r>
              <a:rPr sz="700" dirty="0" err="1"/>
              <a:t>cf</a:t>
            </a:r>
            <a:r>
              <a:rPr sz="700" dirty="0"/>
              <a:t>-</a:t>
            </a:r>
            <a:r>
              <a:rPr sz="700" dirty="0" err="1"/>
              <a:t>psu</a:t>
            </a:r>
            <a:r>
              <a:rPr sz="700" dirty="0"/>
              <a:t>-combined)))</a:t>
            </a:r>
          </a:p>
          <a:p>
            <a:pPr>
              <a:defRPr sz="1200"/>
            </a:pPr>
            <a:r>
              <a:rPr sz="700" dirty="0"/>
              <a:t>  =&gt;</a:t>
            </a:r>
          </a:p>
          <a:p>
            <a:pPr>
              <a:defRPr sz="1200"/>
            </a:pPr>
            <a:r>
              <a:rPr sz="700" dirty="0"/>
              <a:t>  (bind ?score (combine-</a:t>
            </a:r>
            <a:r>
              <a:rPr sz="700" dirty="0" err="1"/>
              <a:t>cf</a:t>
            </a:r>
            <a:r>
              <a:rPr sz="700" dirty="0"/>
              <a:t> (* ?cf1 ?w1) (* ?cf2 ?w2)))</a:t>
            </a:r>
          </a:p>
          <a:p>
            <a:pPr>
              <a:defRPr sz="1200"/>
            </a:pPr>
            <a:r>
              <a:rPr sz="700" dirty="0"/>
              <a:t>  (assert (diagnostic-conclusion ... (rule-id </a:t>
            </a:r>
            <a:r>
              <a:rPr sz="700" dirty="0" err="1"/>
              <a:t>cf</a:t>
            </a:r>
            <a:r>
              <a:rPr sz="700" dirty="0"/>
              <a:t>-</a:t>
            </a:r>
            <a:r>
              <a:rPr sz="700" dirty="0" err="1"/>
              <a:t>psu</a:t>
            </a:r>
            <a:r>
              <a:rPr sz="700" dirty="0"/>
              <a:t>-combined)</a:t>
            </a:r>
          </a:p>
          <a:p>
            <a:pPr>
              <a:defRPr sz="1200"/>
            </a:pPr>
            <a:r>
              <a:rPr sz="700" dirty="0"/>
              <a:t>    (rationale "Shutdown under load and intermittent power were combined with positive CF accumulation."))))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TODO 2: How the Probabilistic Layer Extends D1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Deliverable 1 already had crisp symptom indicators such as no-power-at-all → psu-failure.</a:t>
            </a:r>
          </a:p>
          <a:p>
            <a:pPr>
              <a:defRPr sz="1700"/>
            </a:pPr>
            <a:r>
              <a:t>Deliverable 2 extends those ideas by attaching numeric support weights and user certainty factors.</a:t>
            </a:r>
          </a:p>
          <a:p>
            <a:pPr>
              <a:defRPr sz="1700"/>
            </a:pPr>
            <a:r>
              <a:t>This means the same hardware scenarios can now be reasoned about with graded belief rather than only symbolic labels.</a:t>
            </a:r>
          </a:p>
          <a:p>
            <a:pPr>
              <a:defRPr sz="1700"/>
            </a:pPr>
            <a:r>
              <a:t>The probabilistic layer therefore revises and extends the Deliverable 1 collection of facts and rules exactly as allowed by the rubric.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Certainty Factors: 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Example inputs: shutdown-under-load with user certainty 0.80 and intermittent-power with user certainty 0.70.</a:t>
            </a:r>
          </a:p>
          <a:p>
            <a:pPr>
              <a:defRPr sz="1700"/>
            </a:pPr>
            <a:r>
              <a:t>Rule weights: 0.80 (shutdown → psu-inadequate-wattage) and 0.65 (intermittent → loose-power-connections).</a:t>
            </a:r>
          </a:p>
          <a:p>
            <a:pPr>
              <a:defRPr sz="1700"/>
            </a:pPr>
            <a:r>
              <a:t>Single evidential strengths: CF1 = 0.80 × 0.80 = 0.64 and CF2 = 0.70 × 0.65 = 0.455.</a:t>
            </a:r>
          </a:p>
          <a:p>
            <a:pPr>
              <a:defRPr sz="1700"/>
            </a:pPr>
            <a:r>
              <a:t>Combined evidence: CFcombined = 0.64 + 0.455 × (1 − 0.64) = 0.8038.</a:t>
            </a:r>
          </a:p>
          <a:p>
            <a:pPr>
              <a:defRPr sz="1700"/>
            </a:pPr>
            <a:r>
              <a:t>This illustrates that corroborating evidence yields stronger support than either symptom alone.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TODO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Possibilistic uncertainty implemented with Fuzzy Logic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TODO 3: Requirement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The rubric requires modifying K by possibilistically uncertain knowledge using Fuzzy Logic Theory.</a:t>
            </a:r>
          </a:p>
          <a:p>
            <a:pPr>
              <a:defRPr sz="1700"/>
            </a:pPr>
            <a:r>
              <a:t>The rubric also requires at least 5 useful facts and at least 10 useful rules for this uncertainty layer.</a:t>
            </a:r>
          </a:p>
          <a:p>
            <a:pPr>
              <a:defRPr sz="1700"/>
            </a:pPr>
            <a:r>
              <a:t>The implementation exceeds those minimums with 5 fuzzy variables, 15 fuzzy sets, and 12 rules in the fuzzy section including fuzzification.</a:t>
            </a:r>
          </a:p>
          <a:p>
            <a:pPr>
              <a:defRPr sz="1700"/>
            </a:pPr>
            <a:r>
              <a:t>These additions extend the Deliverable 1 knowledge base with gradual quantitative reasoning instead of only binary symptom reasoning.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Fuzzy Logic: Variables and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800"/>
            </a:pPr>
            <a:r>
              <a:t>Five fuzzy variables</a:t>
            </a:r>
          </a:p>
          <a:p>
            <a:pPr lvl="1">
              <a:defRPr sz="1800"/>
            </a:pPr>
            <a:r>
              <a:t>cpu-temperature (degrees Celsius)</a:t>
            </a:r>
          </a:p>
          <a:p>
            <a:pPr lvl="1">
              <a:defRPr sz="1800"/>
            </a:pPr>
            <a:r>
              <a:t>gpu-temperature (degrees Celsius)</a:t>
            </a:r>
          </a:p>
          <a:p>
            <a:pPr lvl="1">
              <a:defRPr sz="1800"/>
            </a:pPr>
            <a:r>
              <a:t>voltage-stability (percent, 0–100)</a:t>
            </a:r>
          </a:p>
          <a:p>
            <a:pPr lvl="1">
              <a:defRPr sz="1800"/>
            </a:pPr>
            <a:r>
              <a:t>storage-health (percent, 0–100)</a:t>
            </a:r>
          </a:p>
          <a:p>
            <a:pPr lvl="1">
              <a:defRPr sz="1800"/>
            </a:pPr>
            <a:r>
              <a:t>boot-time (seconds)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1800"/>
            </a:pPr>
            <a:r>
              <a:t>Fuzzy sets per variable</a:t>
            </a:r>
          </a:p>
          <a:p>
            <a:pPr lvl="1">
              <a:defRPr sz="1800"/>
            </a:pPr>
            <a:r>
              <a:t>CPU: normal, elevated, critical</a:t>
            </a:r>
          </a:p>
          <a:p>
            <a:pPr lvl="1">
              <a:defRPr sz="1800"/>
            </a:pPr>
            <a:r>
              <a:t>GPU: normal, hot, critical</a:t>
            </a:r>
          </a:p>
          <a:p>
            <a:pPr lvl="1">
              <a:defRPr sz="1800"/>
            </a:pPr>
            <a:r>
              <a:t>Voltage: unstable, borderline, stable</a:t>
            </a:r>
          </a:p>
          <a:p>
            <a:pPr lvl="1">
              <a:defRPr sz="1800"/>
            </a:pPr>
            <a:r>
              <a:t>Storage: poor, degraded, good</a:t>
            </a:r>
          </a:p>
          <a:p>
            <a:pPr lvl="1">
              <a:defRPr sz="1800"/>
            </a:pPr>
            <a:r>
              <a:t>Boot time: short, slow, severe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Fuzzy Set Parameters: CPU and GPU Temperature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dirty="0" err="1"/>
              <a:t>cpu</a:t>
            </a:r>
            <a:r>
              <a:rPr dirty="0"/>
              <a:t>-temperature </a:t>
            </a:r>
            <a:r>
              <a:rPr lang="en-CA" dirty="0"/>
              <a:t>-</a:t>
            </a:r>
            <a:r>
              <a:rPr dirty="0"/>
              <a:t> normal:   a=0,  b=20, c=55,  d=65</a:t>
            </a:r>
          </a:p>
          <a:p>
            <a:pPr>
              <a:defRPr sz="1400"/>
            </a:pPr>
            <a:r>
              <a:rPr dirty="0" err="1"/>
              <a:t>cpu</a:t>
            </a:r>
            <a:r>
              <a:rPr dirty="0"/>
              <a:t>-temperature </a:t>
            </a:r>
            <a:r>
              <a:rPr lang="en-CA" dirty="0"/>
              <a:t>-</a:t>
            </a:r>
            <a:r>
              <a:rPr dirty="0"/>
              <a:t> elevated: a=55, b=65, c=75,  d=85</a:t>
            </a:r>
          </a:p>
          <a:p>
            <a:pPr>
              <a:defRPr sz="1400"/>
            </a:pPr>
            <a:r>
              <a:rPr dirty="0" err="1"/>
              <a:t>cpu</a:t>
            </a:r>
            <a:r>
              <a:rPr dirty="0"/>
              <a:t>-temperature </a:t>
            </a:r>
            <a:r>
              <a:rPr lang="en-CA" dirty="0"/>
              <a:t>-</a:t>
            </a:r>
            <a:r>
              <a:rPr dirty="0"/>
              <a:t> critical: a=80, b=90, c=120, d=135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 err="1"/>
              <a:t>gpu</a:t>
            </a:r>
            <a:r>
              <a:rPr dirty="0"/>
              <a:t>-temperature </a:t>
            </a:r>
            <a:r>
              <a:rPr lang="en-CA" dirty="0"/>
              <a:t>-</a:t>
            </a:r>
            <a:r>
              <a:rPr dirty="0"/>
              <a:t> normal:   a=0,  b=25, c=60,  d=72</a:t>
            </a:r>
          </a:p>
          <a:p>
            <a:pPr>
              <a:defRPr sz="1400"/>
            </a:pPr>
            <a:r>
              <a:rPr dirty="0" err="1"/>
              <a:t>gpu</a:t>
            </a:r>
            <a:r>
              <a:rPr dirty="0"/>
              <a:t>-temperature </a:t>
            </a:r>
            <a:r>
              <a:rPr lang="en-CA" dirty="0"/>
              <a:t>-</a:t>
            </a:r>
            <a:r>
              <a:rPr dirty="0"/>
              <a:t> hot:      a=68, b=78, c=88,  d=96</a:t>
            </a:r>
          </a:p>
          <a:p>
            <a:pPr>
              <a:defRPr sz="1400"/>
            </a:pPr>
            <a:r>
              <a:rPr dirty="0" err="1"/>
              <a:t>gpu</a:t>
            </a:r>
            <a:r>
              <a:rPr dirty="0"/>
              <a:t>-temperature </a:t>
            </a:r>
            <a:r>
              <a:rPr lang="en-CA" dirty="0"/>
              <a:t>-</a:t>
            </a:r>
            <a:r>
              <a:rPr dirty="0"/>
              <a:t> critical: a=92, b=100, c=115, d=125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Each set uses trapezoidal membership: full membership between b and c, linear ramp-up from a to b, linear ramp-down from c to d.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Fuzzy Set Parameters: Voltage, Storage, and Boot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dirty="0"/>
              <a:t>voltage-stability </a:t>
            </a:r>
            <a:r>
              <a:rPr lang="en-CA" dirty="0"/>
              <a:t>-</a:t>
            </a:r>
            <a:r>
              <a:rPr dirty="0"/>
              <a:t> unstable:   a=0,  b=10, c=40,  d=55</a:t>
            </a:r>
          </a:p>
          <a:p>
            <a:pPr>
              <a:defRPr sz="1400"/>
            </a:pPr>
            <a:r>
              <a:rPr dirty="0"/>
              <a:t>voltage-stability </a:t>
            </a:r>
            <a:r>
              <a:rPr lang="en-CA" dirty="0"/>
              <a:t>-</a:t>
            </a:r>
            <a:r>
              <a:rPr dirty="0"/>
              <a:t> borderline: a=50, b=60, c=72,  d=84</a:t>
            </a:r>
          </a:p>
          <a:p>
            <a:pPr>
              <a:defRPr sz="1400"/>
            </a:pPr>
            <a:r>
              <a:rPr dirty="0"/>
              <a:t>voltage-stability </a:t>
            </a:r>
            <a:r>
              <a:rPr lang="en-CA" dirty="0"/>
              <a:t>-</a:t>
            </a:r>
            <a:r>
              <a:rPr dirty="0"/>
              <a:t> stable:     a=78, b=88, c=100, d=110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storage-health </a:t>
            </a:r>
            <a:r>
              <a:rPr lang="en-CA" dirty="0"/>
              <a:t>-</a:t>
            </a:r>
            <a:r>
              <a:rPr dirty="0"/>
              <a:t> poor:     a=0,  b=10, c=35,  d=50</a:t>
            </a:r>
          </a:p>
          <a:p>
            <a:pPr>
              <a:defRPr sz="1400"/>
            </a:pPr>
            <a:r>
              <a:rPr dirty="0"/>
              <a:t>storage-health </a:t>
            </a:r>
            <a:r>
              <a:rPr lang="en-CA" dirty="0"/>
              <a:t>-</a:t>
            </a:r>
            <a:r>
              <a:rPr dirty="0"/>
              <a:t> degraded: a=45, b=55, c=70,  d=82</a:t>
            </a:r>
          </a:p>
          <a:p>
            <a:pPr>
              <a:defRPr sz="1400"/>
            </a:pPr>
            <a:r>
              <a:rPr dirty="0"/>
              <a:t>storage-health </a:t>
            </a:r>
            <a:r>
              <a:rPr lang="en-CA" dirty="0"/>
              <a:t>-</a:t>
            </a:r>
            <a:r>
              <a:rPr dirty="0"/>
              <a:t> good:     a=78, b=88, c=100, d=110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boot-time </a:t>
            </a:r>
            <a:r>
              <a:rPr lang="en-CA" dirty="0"/>
              <a:t>-</a:t>
            </a:r>
            <a:r>
              <a:rPr dirty="0"/>
              <a:t> short:  a=0,  b=3,  c=12,  d=20</a:t>
            </a:r>
          </a:p>
          <a:p>
            <a:pPr>
              <a:defRPr sz="1400"/>
            </a:pPr>
            <a:r>
              <a:rPr dirty="0"/>
              <a:t>boot-time </a:t>
            </a:r>
            <a:r>
              <a:rPr lang="en-CA" dirty="0"/>
              <a:t>-</a:t>
            </a:r>
            <a:r>
              <a:rPr dirty="0"/>
              <a:t> slow:   a=18, b=28, c=45,  d=60</a:t>
            </a:r>
          </a:p>
          <a:p>
            <a:pPr>
              <a:defRPr sz="1400"/>
            </a:pPr>
            <a:r>
              <a:rPr dirty="0"/>
              <a:t>boot-time </a:t>
            </a:r>
            <a:r>
              <a:rPr lang="en-CA" dirty="0"/>
              <a:t>-</a:t>
            </a:r>
            <a:r>
              <a:rPr dirty="0"/>
              <a:t> severe: a=55, b=70, c=120, d=150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Fuzzy Logic: Why It Was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Several PC diagnostic measurements are gradual rather than binary.</a:t>
            </a:r>
          </a:p>
          <a:p>
            <a:pPr>
              <a:defRPr sz="1700"/>
            </a:pPr>
            <a:r>
              <a:t>CPU temperature can be elevated without already being catastrophic.</a:t>
            </a:r>
          </a:p>
          <a:p>
            <a:pPr>
              <a:defRPr sz="1700"/>
            </a:pPr>
            <a:r>
              <a:t>Voltage quality can be borderline rather than simply good or bad.</a:t>
            </a:r>
          </a:p>
          <a:p>
            <a:pPr>
              <a:defRPr sz="1700"/>
            </a:pPr>
            <a:r>
              <a:t>Storage health can degrade gradually before failure becomes obvious.</a:t>
            </a:r>
          </a:p>
          <a:p>
            <a:pPr>
              <a:defRPr sz="1700"/>
            </a:pPr>
            <a:r>
              <a:t>Boot time can become slow before it becomes severe.</a:t>
            </a:r>
          </a:p>
          <a:p>
            <a:pPr>
              <a:defRPr sz="1700"/>
            </a:pPr>
            <a:r>
              <a:t>A hard-threshold approach would throw away useful information near these boundaries.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Fuzzy Logic: Inference and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The system fuzzifies quantitative readings through fuzzify-reading, which computes the trapezoidal membership for every applicable fuzzy set.</a:t>
            </a:r>
          </a:p>
          <a:p>
            <a:pPr>
              <a:defRPr sz="1700"/>
            </a:pPr>
            <a:r>
              <a:t>Fuzzy rules combine membership values with each other or with symptom certainty factors using the minimum operator (fuzzy-and).</a:t>
            </a:r>
          </a:p>
          <a:p>
            <a:pPr>
              <a:defRPr sz="1700"/>
            </a:pPr>
            <a:r>
              <a:t>A minimum threshold of 0.35 is required for a fuzzy rule to fire, preventing low-confidence noise.</a:t>
            </a:r>
          </a:p>
          <a:p>
            <a:pPr>
              <a:defRPr sz="1700"/>
            </a:pPr>
            <a:r>
              <a:t>At least 10 useful fuzzy diagnosis rules were added; the fuzzy section contains 12 rules including fuzzification.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CLIPS Code: Fuzzification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(defrule fuzzify-reading</a:t>
            </a:r>
          </a:p>
          <a:p>
            <a:pPr>
              <a:defRPr sz="1300"/>
            </a:pPr>
            <a:r>
              <a:t>  "Generic fuzzification rule for all fuzzy variables."</a:t>
            </a:r>
          </a:p>
          <a:p>
            <a:pPr>
              <a:defRPr sz="1300"/>
            </a:pPr>
            <a:r>
              <a:t>  (sensor-reading (name ?variable) (value ?value))</a:t>
            </a:r>
          </a:p>
          <a:p>
            <a:pPr>
              <a:defRPr sz="1300"/>
            </a:pPr>
            <a:r>
              <a:t>  (fuzzy-set (variable ?variable) (label ?label)</a:t>
            </a:r>
          </a:p>
          <a:p>
            <a:pPr>
              <a:defRPr sz="1300"/>
            </a:pPr>
            <a:r>
              <a:t>    (a ?a) (b ?b) (c ?c) (d ?d))</a:t>
            </a:r>
          </a:p>
          <a:p>
            <a:pPr>
              <a:defRPr sz="1300"/>
            </a:pPr>
            <a:r>
              <a:t>  (not (fuzzy-assessment (variable ?variable) (label ?label)))</a:t>
            </a:r>
          </a:p>
          <a:p>
            <a:pPr>
              <a:defRPr sz="1300"/>
            </a:pPr>
            <a:r>
              <a:t>  (test (&gt; (trapezoid-membership ?value ?a ?b ?c ?d) 0.0))</a:t>
            </a:r>
          </a:p>
          <a:p>
            <a:pPr>
              <a:defRPr sz="1300"/>
            </a:pPr>
            <a:r>
              <a:t>  =&gt;</a:t>
            </a:r>
          </a:p>
          <a:p>
            <a:pPr>
              <a:defRPr sz="1300"/>
            </a:pPr>
            <a:r>
              <a:t>  (bind ?degree (trapezoid-membership ?value ?a ?b ?c ?d))</a:t>
            </a:r>
          </a:p>
          <a:p>
            <a:pPr>
              <a:defRPr sz="1300"/>
            </a:pPr>
            <a:r>
              <a:t>  (assert (fuzzy-assessment</a:t>
            </a:r>
          </a:p>
          <a:p>
            <a:pPr>
              <a:defRPr sz="1300"/>
            </a:pPr>
            <a:r>
              <a:t>    (variable ?variable) (label ?label)</a:t>
            </a:r>
          </a:p>
          <a:p>
            <a:pPr>
              <a:defRPr sz="1300"/>
            </a:pPr>
            <a:r>
              <a:t>    (degree ?degree))))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CLIPS Code: Representative Fuzzy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rPr sz="900" dirty="0"/>
              <a:t>(</a:t>
            </a:r>
            <a:r>
              <a:rPr sz="900" dirty="0" err="1"/>
              <a:t>defrule</a:t>
            </a:r>
            <a:r>
              <a:rPr sz="900" dirty="0"/>
              <a:t> fuzzy-</a:t>
            </a:r>
            <a:r>
              <a:rPr sz="900" dirty="0" err="1"/>
              <a:t>cpu</a:t>
            </a:r>
            <a:r>
              <a:rPr sz="900" dirty="0"/>
              <a:t>-elevated-and-freezing</a:t>
            </a:r>
          </a:p>
          <a:p>
            <a:pPr>
              <a:defRPr sz="1200"/>
            </a:pPr>
            <a:r>
              <a:rPr sz="900" dirty="0"/>
              <a:t>  (fuzzy-assessment (variable </a:t>
            </a:r>
            <a:r>
              <a:rPr sz="900" dirty="0" err="1"/>
              <a:t>cpu</a:t>
            </a:r>
            <a:r>
              <a:rPr sz="900" dirty="0"/>
              <a:t>-temperature)</a:t>
            </a:r>
          </a:p>
          <a:p>
            <a:pPr>
              <a:defRPr sz="1200"/>
            </a:pPr>
            <a:r>
              <a:rPr sz="900" dirty="0"/>
              <a:t>    (label elevated) (degree ?</a:t>
            </a:r>
            <a:r>
              <a:rPr sz="900" dirty="0" err="1"/>
              <a:t>tempDegree</a:t>
            </a:r>
            <a:r>
              <a:rPr sz="900" dirty="0"/>
              <a:t>))</a:t>
            </a:r>
          </a:p>
          <a:p>
            <a:pPr>
              <a:defRPr sz="1200"/>
            </a:pPr>
            <a:r>
              <a:rPr sz="900" dirty="0"/>
              <a:t>  (reported-symptom (symptom-id system-freezes-under-load)</a:t>
            </a:r>
          </a:p>
          <a:p>
            <a:pPr>
              <a:defRPr sz="1200"/>
            </a:pPr>
            <a:r>
              <a:rPr sz="900" dirty="0"/>
              <a:t>    (observed yes) (user-</a:t>
            </a:r>
            <a:r>
              <a:rPr sz="900" dirty="0" err="1"/>
              <a:t>cf</a:t>
            </a:r>
            <a:r>
              <a:rPr sz="900" dirty="0"/>
              <a:t> ?</a:t>
            </a:r>
            <a:r>
              <a:rPr sz="900" dirty="0" err="1"/>
              <a:t>symptomDegree</a:t>
            </a:r>
            <a:r>
              <a:rPr sz="900" dirty="0"/>
              <a:t>))</a:t>
            </a:r>
          </a:p>
          <a:p>
            <a:pPr>
              <a:defRPr sz="1200"/>
            </a:pPr>
            <a:r>
              <a:rPr sz="900" dirty="0"/>
              <a:t>  (failure-scenario (id </a:t>
            </a:r>
            <a:r>
              <a:rPr sz="900" dirty="0" err="1"/>
              <a:t>cpu</a:t>
            </a:r>
            <a:r>
              <a:rPr sz="900" dirty="0"/>
              <a:t>-overheating)</a:t>
            </a:r>
          </a:p>
          <a:p>
            <a:pPr>
              <a:defRPr sz="1200"/>
            </a:pPr>
            <a:r>
              <a:rPr sz="900" dirty="0"/>
              <a:t>    (name ?name) (recommended-action ?action))</a:t>
            </a:r>
          </a:p>
          <a:p>
            <a:pPr>
              <a:defRPr sz="1200"/>
            </a:pPr>
            <a:r>
              <a:rPr sz="900" dirty="0"/>
              <a:t>  (not (diagnostic-conclusion (rule-id fuzzy-</a:t>
            </a:r>
            <a:r>
              <a:rPr sz="900" dirty="0" err="1"/>
              <a:t>cpu</a:t>
            </a:r>
            <a:r>
              <a:rPr sz="900" dirty="0"/>
              <a:t>-freeze)))</a:t>
            </a:r>
          </a:p>
          <a:p>
            <a:pPr>
              <a:defRPr sz="1200"/>
            </a:pPr>
            <a:r>
              <a:rPr sz="900" dirty="0"/>
              <a:t>  (test (&gt;= (fuzzy-and ?</a:t>
            </a:r>
            <a:r>
              <a:rPr sz="900" dirty="0" err="1"/>
              <a:t>tempDegree</a:t>
            </a:r>
            <a:r>
              <a:rPr sz="900" dirty="0"/>
              <a:t> ?</a:t>
            </a:r>
            <a:r>
              <a:rPr sz="900" dirty="0" err="1"/>
              <a:t>symptomDegree</a:t>
            </a:r>
            <a:r>
              <a:rPr sz="900" dirty="0"/>
              <a:t>) 0.35))</a:t>
            </a:r>
          </a:p>
          <a:p>
            <a:pPr>
              <a:defRPr sz="1200"/>
            </a:pPr>
            <a:r>
              <a:rPr sz="900" dirty="0"/>
              <a:t>  =&gt;</a:t>
            </a:r>
          </a:p>
          <a:p>
            <a:pPr>
              <a:defRPr sz="1200"/>
            </a:pPr>
            <a:r>
              <a:rPr sz="900" dirty="0"/>
              <a:t>  (bind ?score (fuzzy-and ?</a:t>
            </a:r>
            <a:r>
              <a:rPr sz="900" dirty="0" err="1"/>
              <a:t>tempDegree</a:t>
            </a:r>
            <a:r>
              <a:rPr sz="900" dirty="0"/>
              <a:t> ?</a:t>
            </a:r>
            <a:r>
              <a:rPr sz="900" dirty="0" err="1"/>
              <a:t>symptomDegree</a:t>
            </a:r>
            <a:r>
              <a:rPr sz="900" dirty="0"/>
              <a:t>))</a:t>
            </a:r>
          </a:p>
          <a:p>
            <a:pPr>
              <a:defRPr sz="1200"/>
            </a:pPr>
            <a:r>
              <a:rPr sz="900" dirty="0"/>
              <a:t>  (assert (diagnostic-conclusion (scenario-id </a:t>
            </a:r>
            <a:r>
              <a:rPr sz="900" dirty="0" err="1"/>
              <a:t>cpu</a:t>
            </a:r>
            <a:r>
              <a:rPr sz="900" dirty="0"/>
              <a:t>-overheating)</a:t>
            </a:r>
          </a:p>
          <a:p>
            <a:pPr>
              <a:defRPr sz="1200"/>
            </a:pPr>
            <a:r>
              <a:rPr sz="900" dirty="0"/>
              <a:t>    (theory fuzzy) (score ?score) (label (score-label ?score))</a:t>
            </a:r>
          </a:p>
          <a:p>
            <a:pPr>
              <a:defRPr sz="1200"/>
            </a:pPr>
            <a:r>
              <a:rPr sz="900" dirty="0"/>
              <a:t>    (rule-id fuzzy-</a:t>
            </a:r>
            <a:r>
              <a:rPr sz="900" dirty="0" err="1"/>
              <a:t>cpu</a:t>
            </a:r>
            <a:r>
              <a:rPr sz="900" dirty="0"/>
              <a:t>-freeze)</a:t>
            </a:r>
          </a:p>
          <a:p>
            <a:pPr>
              <a:defRPr sz="1200"/>
            </a:pPr>
            <a:r>
              <a:rPr sz="900" dirty="0"/>
              <a:t>    (recommended-action ?action) (rationale "Elevated CPU temperature combined with load-induced freezing ..."))))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Fuzzy Logic: 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Rule: fuzzy-cpu-elevated-and-freezing.</a:t>
            </a:r>
          </a:p>
          <a:p>
            <a:pPr>
              <a:defRPr sz="1700"/>
            </a:pPr>
            <a:r>
              <a:t>If cpu-temperature = 78 and the elevated trapezoid is defined by a=55, b=65, c=75, d=85, then the descending side applies: membership = (85 − 78) / (85 − 75) = 0.70.</a:t>
            </a:r>
          </a:p>
          <a:p>
            <a:pPr>
              <a:defRPr sz="1700"/>
            </a:pPr>
            <a:r>
              <a:t>If system-freezes-under-load is reported with user-cf 0.90, the fuzzy conjunction is min(0.70, 0.90) = 0.70.</a:t>
            </a:r>
          </a:p>
          <a:p>
            <a:pPr>
              <a:defRPr sz="1700"/>
            </a:pPr>
            <a:r>
              <a:t>The rule therefore concludes cpu-overheating with score 0.70 and label moderate.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Fuzzy Logic: Full Rule Inventory (12 Rules)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rPr dirty="0" err="1"/>
              <a:t>fuzzify</a:t>
            </a:r>
            <a:r>
              <a:rPr dirty="0"/>
              <a:t>-reading </a:t>
            </a:r>
            <a:r>
              <a:rPr lang="en-CA" dirty="0"/>
              <a:t>-</a:t>
            </a:r>
            <a:r>
              <a:rPr dirty="0"/>
              <a:t> generic fuzzification for all variables</a:t>
            </a:r>
          </a:p>
          <a:p>
            <a:pPr>
              <a:defRPr sz="1300"/>
            </a:pPr>
            <a:r>
              <a:rPr dirty="0"/>
              <a:t>fuzzy-</a:t>
            </a:r>
            <a:r>
              <a:rPr dirty="0" err="1"/>
              <a:t>cpu</a:t>
            </a:r>
            <a:r>
              <a:rPr dirty="0"/>
              <a:t>-critical </a:t>
            </a:r>
            <a:r>
              <a:rPr lang="en-CA" dirty="0"/>
              <a:t>-</a:t>
            </a:r>
            <a:r>
              <a:rPr dirty="0"/>
              <a:t> critical CPU temperature alone</a:t>
            </a:r>
          </a:p>
          <a:p>
            <a:pPr>
              <a:defRPr sz="1300"/>
            </a:pPr>
            <a:r>
              <a:rPr dirty="0"/>
              <a:t>fuzzy-</a:t>
            </a:r>
            <a:r>
              <a:rPr dirty="0" err="1"/>
              <a:t>cpu</a:t>
            </a:r>
            <a:r>
              <a:rPr dirty="0"/>
              <a:t>-elevated-and-freezing </a:t>
            </a:r>
            <a:r>
              <a:rPr lang="en-CA" dirty="0"/>
              <a:t>-</a:t>
            </a:r>
            <a:r>
              <a:rPr dirty="0"/>
              <a:t> elevated CPU + system freezing</a:t>
            </a:r>
          </a:p>
          <a:p>
            <a:pPr>
              <a:defRPr sz="1300"/>
            </a:pPr>
            <a:r>
              <a:rPr dirty="0"/>
              <a:t>fuzzy-voltage-unstable-shutdown </a:t>
            </a:r>
            <a:r>
              <a:rPr lang="en-CA" dirty="0"/>
              <a:t>-</a:t>
            </a:r>
            <a:r>
              <a:rPr dirty="0"/>
              <a:t> unstable voltage + shutdown under load</a:t>
            </a:r>
          </a:p>
          <a:p>
            <a:pPr>
              <a:defRPr sz="1300"/>
            </a:pPr>
            <a:r>
              <a:rPr dirty="0"/>
              <a:t>fuzzy-voltage-unstable-intermittent </a:t>
            </a:r>
            <a:r>
              <a:rPr lang="en-CA" dirty="0"/>
              <a:t>-</a:t>
            </a:r>
            <a:r>
              <a:rPr dirty="0"/>
              <a:t> unstable voltage + intermittent power</a:t>
            </a:r>
          </a:p>
          <a:p>
            <a:pPr>
              <a:defRPr sz="1300"/>
            </a:pPr>
            <a:r>
              <a:rPr dirty="0"/>
              <a:t>fuzzy-voltage-borderline-no-power </a:t>
            </a:r>
            <a:r>
              <a:rPr lang="en-CA" dirty="0"/>
              <a:t>-</a:t>
            </a:r>
            <a:r>
              <a:rPr dirty="0"/>
              <a:t> borderline voltage + no power</a:t>
            </a:r>
          </a:p>
          <a:p>
            <a:pPr>
              <a:defRPr sz="1300"/>
            </a:pPr>
            <a:r>
              <a:rPr dirty="0"/>
              <a:t>fuzzy-</a:t>
            </a:r>
            <a:r>
              <a:rPr dirty="0" err="1"/>
              <a:t>gpu</a:t>
            </a:r>
            <a:r>
              <a:rPr dirty="0"/>
              <a:t>-hot-and-artifacts </a:t>
            </a:r>
            <a:r>
              <a:rPr lang="en-CA" dirty="0"/>
              <a:t>-</a:t>
            </a:r>
            <a:r>
              <a:rPr dirty="0"/>
              <a:t> hot GPU + screen artifacts</a:t>
            </a:r>
          </a:p>
          <a:p>
            <a:pPr>
              <a:defRPr sz="1300"/>
            </a:pPr>
            <a:r>
              <a:rPr dirty="0"/>
              <a:t>fuzzy-</a:t>
            </a:r>
            <a:r>
              <a:rPr dirty="0" err="1"/>
              <a:t>gpu</a:t>
            </a:r>
            <a:r>
              <a:rPr dirty="0"/>
              <a:t>-critical-no-display </a:t>
            </a:r>
            <a:r>
              <a:rPr lang="en-CA" dirty="0"/>
              <a:t>-</a:t>
            </a:r>
            <a:r>
              <a:rPr dirty="0"/>
              <a:t> critical GPU + no display output</a:t>
            </a:r>
          </a:p>
          <a:p>
            <a:pPr>
              <a:defRPr sz="1300"/>
            </a:pPr>
            <a:r>
              <a:rPr dirty="0"/>
              <a:t>fuzzy-storage-poor-and-slow </a:t>
            </a:r>
            <a:r>
              <a:rPr lang="en-CA" dirty="0"/>
              <a:t>-</a:t>
            </a:r>
            <a:r>
              <a:rPr dirty="0"/>
              <a:t> poor storage health + slow access</a:t>
            </a:r>
          </a:p>
          <a:p>
            <a:pPr>
              <a:defRPr sz="1300"/>
            </a:pPr>
            <a:r>
              <a:rPr dirty="0"/>
              <a:t>fuzzy-storage-degraded-boot </a:t>
            </a:r>
            <a:r>
              <a:rPr lang="en-CA" dirty="0"/>
              <a:t>-</a:t>
            </a:r>
            <a:r>
              <a:rPr dirty="0"/>
              <a:t> degraded storage + missing boot device</a:t>
            </a:r>
          </a:p>
          <a:p>
            <a:pPr>
              <a:defRPr sz="1300"/>
            </a:pPr>
            <a:r>
              <a:rPr dirty="0"/>
              <a:t>fuzzy-boot-severe </a:t>
            </a:r>
            <a:r>
              <a:rPr lang="en-CA" dirty="0"/>
              <a:t>-</a:t>
            </a:r>
            <a:r>
              <a:rPr dirty="0"/>
              <a:t> severely delayed boot + missing boot device</a:t>
            </a:r>
          </a:p>
          <a:p>
            <a:pPr>
              <a:defRPr sz="1300"/>
            </a:pPr>
            <a:r>
              <a:rPr dirty="0"/>
              <a:t>fuzzy-boot-slow-and-storage-poor </a:t>
            </a:r>
            <a:r>
              <a:rPr lang="en-CA" dirty="0"/>
              <a:t>-</a:t>
            </a:r>
            <a:r>
              <a:rPr dirty="0"/>
              <a:t> slow boot + poor storage health (no symptom needed)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TODO 3: How the Fuzzy Layer Extends D1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Deliverable 1 focused on crisp observable symptoms such as no display output or boot device not found.</a:t>
            </a:r>
          </a:p>
          <a:p>
            <a:pPr>
              <a:defRPr sz="1700"/>
            </a:pPr>
            <a:r>
              <a:rPr dirty="0"/>
              <a:t>Deliverable 2 adds gradual quantitative variables such as CPU temperature, GPU temperature, voltage stability, storage health, and boot time.</a:t>
            </a:r>
          </a:p>
          <a:p>
            <a:pPr>
              <a:defRPr sz="1700"/>
            </a:pPr>
            <a:r>
              <a:rPr dirty="0"/>
              <a:t>This extends the original </a:t>
            </a:r>
            <a:r>
              <a:rPr dirty="0" err="1"/>
              <a:t>factbase</a:t>
            </a:r>
            <a:r>
              <a:rPr dirty="0"/>
              <a:t> and </a:t>
            </a:r>
            <a:r>
              <a:rPr dirty="0" err="1"/>
              <a:t>rulebase</a:t>
            </a:r>
            <a:r>
              <a:rPr dirty="0"/>
              <a:t> by allowing diagnoses to be supported by measured degrees such as elevated, critical, degraded, or severe.</a:t>
            </a:r>
          </a:p>
          <a:p>
            <a:pPr>
              <a:defRPr sz="1700"/>
            </a:pPr>
            <a:r>
              <a:rPr dirty="0"/>
              <a:t>The fuzzy layer therefore adds possibilistic uncertainty rather than duplicating the probabilistic layer.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TODO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Quality attributes and guidelines applied to the overall factbase and rulebase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TODO 4(a): Selected Quality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The rubric requires at least 4 quality attributes relevant to the rule-based expert system.</a:t>
            </a:r>
          </a:p>
          <a:p>
            <a:pPr>
              <a:defRPr sz="1700"/>
            </a:pPr>
            <a:r>
              <a:t>The project selected Explainability, Maintainability, Consistency, and Traceability.</a:t>
            </a:r>
          </a:p>
          <a:p>
            <a:pPr>
              <a:defRPr sz="1700"/>
            </a:pPr>
            <a:r>
              <a:t>These were chosen because the system now includes three reasoning styles and must still be understandable, extensible, and easy to verify.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Attributes: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800"/>
            </a:pPr>
            <a:r>
              <a:t>Selected attributes</a:t>
            </a:r>
          </a:p>
          <a:p>
            <a:pPr lvl="1">
              <a:defRPr sz="1800"/>
            </a:pPr>
            <a:r>
              <a:t>Explainability</a:t>
            </a:r>
          </a:p>
          <a:p>
            <a:pPr lvl="1">
              <a:defRPr sz="1800"/>
            </a:pPr>
            <a:r>
              <a:t>Maintainability</a:t>
            </a:r>
          </a:p>
          <a:p>
            <a:pPr lvl="1">
              <a:defRPr sz="1800"/>
            </a:pPr>
            <a:r>
              <a:t>Consistency</a:t>
            </a:r>
          </a:p>
          <a:p>
            <a:pPr lvl="1">
              <a:defRPr sz="1800"/>
            </a:pPr>
            <a:r>
              <a:t>Traceability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1800"/>
            </a:pPr>
            <a:r>
              <a:t>Why these matter</a:t>
            </a:r>
          </a:p>
          <a:p>
            <a:pPr lvl="1">
              <a:defRPr sz="1800"/>
            </a:pPr>
            <a:r>
              <a:t>Expert systems should justify diagnoses</a:t>
            </a:r>
          </a:p>
          <a:p>
            <a:pPr lvl="1">
              <a:defRPr sz="1800"/>
            </a:pPr>
            <a:r>
              <a:t>D2 added major complexity and needed safer structure</a:t>
            </a:r>
          </a:p>
          <a:p>
            <a:pPr lvl="1">
              <a:defRPr sz="1800"/>
            </a:pPr>
            <a:r>
              <a:t>Three reasoning styles must coexist coherently</a:t>
            </a:r>
          </a:p>
          <a:p>
            <a:pPr lvl="1">
              <a:defRPr sz="1800"/>
            </a:pPr>
            <a:r>
              <a:t>Evaluators must trace outcomes back to rules and evidence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TODO 4(b): Guidelines Applied to the Overall Factbase 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The rubric requires the quality guidelines to be applied to the overall collection of facts in F, meaning facts from D1, D2 TODO 2, and D2 TODO 3.</a:t>
            </a:r>
          </a:p>
          <a:p>
            <a:pPr>
              <a:defRPr sz="1700"/>
            </a:pPr>
            <a:r>
              <a:t>This was done by keeping a consistent naming scheme across symptoms, scenarios, and templates.</a:t>
            </a:r>
          </a:p>
          <a:p>
            <a:pPr>
              <a:defRPr sz="1700"/>
            </a:pPr>
            <a:r>
              <a:t>The factbase is organized into clear categories: D1 crisp symptom indicators, D2 Certainty Factor evidence facts, and D2 fuzzy variables and sets.</a:t>
            </a:r>
          </a:p>
          <a:p>
            <a:pPr>
              <a:defRPr sz="1700"/>
            </a:pPr>
            <a:r>
              <a:t>Recommended actions were attached to failure scenarios to improve explainability and reuse.</a:t>
            </a:r>
          </a:p>
          <a:p>
            <a:pPr>
              <a:defRPr sz="1700"/>
            </a:pPr>
            <a:r>
              <a:t>The unified diagnostic-conclusion template improves traceability across all fact categories.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TODO 4(b): Guidelines Applied to the Overall Rulebase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The rubric also requires the quality guidelines to be applied to the overall collection of rules in R, including D1 rules plus D2 probabilistic and fuzzy rules.</a:t>
            </a:r>
          </a:p>
          <a:p>
            <a:pPr>
              <a:defRPr sz="1700"/>
            </a:pPr>
            <a:r>
              <a:rPr dirty="0"/>
              <a:t>This was done by separating the </a:t>
            </a:r>
            <a:r>
              <a:rPr dirty="0" err="1"/>
              <a:t>rulebase</a:t>
            </a:r>
            <a:r>
              <a:rPr dirty="0"/>
              <a:t> into crisp baseline rules, Certainty Factor rules, fuzzy rules, and summary/helper rules.</a:t>
            </a:r>
          </a:p>
          <a:p>
            <a:pPr>
              <a:defRPr sz="1700"/>
            </a:pPr>
            <a:r>
              <a:rPr dirty="0"/>
              <a:t>Helper functions were centralized to improve maintainability and consistency.</a:t>
            </a:r>
          </a:p>
          <a:p>
            <a:pPr>
              <a:defRPr sz="1700"/>
            </a:pPr>
            <a:r>
              <a:rPr dirty="0"/>
              <a:t>Rule naming is systematic: strengthen-crisp-*, </a:t>
            </a:r>
            <a:r>
              <a:rPr dirty="0" err="1"/>
              <a:t>cf</a:t>
            </a:r>
            <a:r>
              <a:rPr dirty="0"/>
              <a:t>-*, and fuzzy-*.</a:t>
            </a:r>
          </a:p>
          <a:p>
            <a:pPr>
              <a:defRPr sz="1700"/>
            </a:pPr>
            <a:r>
              <a:rPr dirty="0"/>
              <a:t>The summary rules print theory-specific outputs with rule identifiers and rationales, making the effect independently verifiable.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Explainability and Maintainability Were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Explainability: every conclusion stores a rule-id and rationale; theory-specific summaries are printed; recommended actions are attached to failure scenarios.</a:t>
            </a:r>
          </a:p>
          <a:p>
            <a:pPr>
              <a:defRPr sz="1700"/>
            </a:pPr>
            <a:r>
              <a:t>Maintainability: crisp indicators, Certainty Factor evidence, and fuzzy definitions are separated into different templates; helper functions such as combine-cf and trapezoid-membership are centralized; actions are not duplicated across many rules.</a:t>
            </a:r>
          </a:p>
          <a:p>
            <a:pPr>
              <a:defRPr sz="1700"/>
            </a:pPr>
            <a:r>
              <a:t>Impact: positive because conclusions are more transparent and the codebase is safer to extend.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Consistency and Traceability Were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Consistency: one naming scheme is used throughout the files; one normalized score range [0,1] is used for all three theories; symbolic D1 strengths are converted to numeric scores; one output template is used for all conclusions.</a:t>
            </a:r>
          </a:p>
          <a:p>
            <a:pPr>
              <a:defRPr sz="1700"/>
            </a:pPr>
            <a:r>
              <a:rPr dirty="0"/>
              <a:t>Traceability: symptom IDs, scenario IDs, and rule IDs are explicit; formulas and fuzzy variables are documented; test cases are aligned with implemented rules and facts.</a:t>
            </a:r>
          </a:p>
          <a:p>
            <a:pPr>
              <a:defRPr sz="1700"/>
            </a:pPr>
            <a:r>
              <a:rPr dirty="0"/>
              <a:t>Impact: mostly positive because outputs are easier to compare and verify, but the same numeric range still represents different semantics across crisp, probabilistic, and fuzzy reasoning.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TODO 4(c): Impact of the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Positive impacts: better explainability, better traceability, stronger independent verification, cleaner separation of concerns, and safer extensibility.</a:t>
            </a:r>
          </a:p>
          <a:p>
            <a:pPr>
              <a:defRPr sz="1700"/>
            </a:pPr>
            <a:r>
              <a:t>Mixed impact: using one normalized score range improves readability, but crisp, probabilistic, and fuzzy scores do not have identical semantics.</a:t>
            </a:r>
          </a:p>
          <a:p>
            <a:pPr>
              <a:defRPr sz="1700"/>
            </a:pPr>
            <a:r>
              <a:t>Negative or trade-off impact: the larger and richer knowledge base is more powerful, but also more complex and more demanding to maintain and document carefully.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Driver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driver.clp</a:t>
            </a:r>
            <a:r>
              <a:rPr dirty="0"/>
              <a:t> </a:t>
            </a:r>
            <a:r>
              <a:rPr lang="en-CA" dirty="0"/>
              <a:t>-</a:t>
            </a:r>
            <a:r>
              <a:rPr dirty="0"/>
              <a:t> how the user interacts with the expert system at runtime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Driver: Load and Run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To run the expert system interactively in CLIPS:</a:t>
            </a:r>
          </a:p>
          <a:p>
            <a:pPr>
              <a:defRPr sz="1600"/>
            </a:pPr>
            <a:r>
              <a:t>  (load "facts.txt")</a:t>
            </a:r>
          </a:p>
          <a:p>
            <a:pPr>
              <a:defRPr sz="1600"/>
            </a:pPr>
            <a:r>
              <a:t>  (load "rules.txt")</a:t>
            </a:r>
          </a:p>
          <a:p>
            <a:pPr>
              <a:defRPr sz="1600"/>
            </a:pPr>
            <a:r>
              <a:t>  (load "driver.clp")</a:t>
            </a:r>
          </a:p>
          <a:p>
            <a:pPr>
              <a:defRPr sz="1600"/>
            </a:pPr>
            <a:r>
              <a:t>  (reset)</a:t>
            </a:r>
          </a:p>
          <a:p>
            <a:pPr>
              <a:defRPr sz="1600"/>
            </a:pPr>
            <a:r>
              <a:t>  (run-diagnosis)</a:t>
            </a:r>
          </a:p>
          <a:p>
            <a:pPr>
              <a:defRPr sz="1600"/>
            </a:pPr>
            <a:endParaRPr/>
          </a:p>
          <a:p>
            <a:pPr>
              <a:defRPr sz="1600"/>
            </a:pPr>
            <a:r>
              <a:t>This starts the interactive menu, which collects symptoms, certainty factors, and quantitative readings before running the inference engine.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Driver: Step 1 </a:t>
            </a:r>
            <a:r>
              <a:rPr lang="en-CA" dirty="0"/>
              <a:t>-</a:t>
            </a:r>
            <a:r>
              <a:rPr dirty="0"/>
              <a:t> Symptom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driver prints a numbered menu of all 15 symptoms grouped by category (Power &amp; Motherboard 1–6, Display &amp; Graphics 7–10, Memory &amp; Storage 11–15).</a:t>
            </a:r>
          </a:p>
          <a:p>
            <a:pPr>
              <a:defRPr sz="1600"/>
            </a:pPr>
            <a:r>
              <a:t>The user enters a number (1–15) to select a symptom, then a certainty factor (0.0 to 1.0).</a:t>
            </a:r>
          </a:p>
          <a:p>
            <a:pPr>
              <a:defRPr sz="1600"/>
            </a:pPr>
            <a:r>
              <a:t>Each selection asserts: (reported-symptom (symptom-id &lt;id&gt;) (observed yes) (user-cf &lt;cf&gt;)).</a:t>
            </a:r>
          </a:p>
          <a:p>
            <a:pPr>
              <a:defRPr sz="1600"/>
            </a:pPr>
            <a:r>
              <a:t>The user enters 0 when done selecting symptoms.</a:t>
            </a:r>
          </a:p>
          <a:p>
            <a:pPr>
              <a:defRPr sz="1600"/>
            </a:pPr>
            <a:r>
              <a:t>Invalid menu choices are ignored with a message.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Driver: Step 2 </a:t>
            </a:r>
            <a:r>
              <a:rPr lang="en-CA" dirty="0"/>
              <a:t>-</a:t>
            </a:r>
            <a:r>
              <a:rPr dirty="0"/>
              <a:t> Quantitative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After symptoms, the driver prompts for five quantitative readings:</a:t>
            </a:r>
          </a:p>
          <a:p>
            <a:pPr lvl="1">
              <a:defRPr sz="1600"/>
            </a:pPr>
            <a:r>
              <a:t>CPU temperature in degrees Celsius</a:t>
            </a:r>
          </a:p>
          <a:p>
            <a:pPr lvl="1">
              <a:defRPr sz="1600"/>
            </a:pPr>
            <a:r>
              <a:t>GPU temperature in degrees Celsius</a:t>
            </a:r>
          </a:p>
          <a:p>
            <a:pPr lvl="1">
              <a:defRPr sz="1600"/>
            </a:pPr>
            <a:r>
              <a:t>Voltage stability score (0 to 100, higher is better)</a:t>
            </a:r>
          </a:p>
          <a:p>
            <a:pPr lvl="1">
              <a:defRPr sz="1600"/>
            </a:pPr>
            <a:r>
              <a:t>Storage health score (0 to 100, higher is better)</a:t>
            </a:r>
          </a:p>
          <a:p>
            <a:pPr lvl="1">
              <a:defRPr sz="1600"/>
            </a:pPr>
            <a:r>
              <a:t>Boot time in seconds</a:t>
            </a:r>
          </a:p>
          <a:p>
            <a:pPr>
              <a:defRPr sz="1600"/>
            </a:pPr>
            <a:r>
              <a:t>Entering −1 skips a reading (no sensor-reading fact is asserted for that variable).</a:t>
            </a:r>
          </a:p>
          <a:p>
            <a:pPr>
              <a:defRPr sz="1600"/>
            </a:pPr>
            <a:r>
              <a:t>After all readings, the driver calls (run) to execute the inference engine and print results.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Driver: CLIPS Code (key excerpts)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(deffunction normalize-cf (?value)</a:t>
            </a:r>
          </a:p>
          <a:p>
            <a:pPr>
              <a:defRPr sz="1300"/>
            </a:pPr>
            <a:r>
              <a:t>  (if (or (&lt; ?value 0.0) (&gt; ?value 1.0)) then 1.0 else ?value))</a:t>
            </a:r>
          </a:p>
          <a:p>
            <a:pPr>
              <a:defRPr sz="1300"/>
            </a:pPr>
            <a:endParaRPr/>
          </a:p>
          <a:p>
            <a:pPr>
              <a:defRPr sz="1300"/>
            </a:pPr>
            <a:r>
              <a:t>(deffunction assert-optional-reading (?name ?value)</a:t>
            </a:r>
          </a:p>
          <a:p>
            <a:pPr>
              <a:defRPr sz="1300"/>
            </a:pPr>
            <a:r>
              <a:t>  (if (&gt;= ?value 0) then</a:t>
            </a:r>
          </a:p>
          <a:p>
            <a:pPr>
              <a:defRPr sz="1300"/>
            </a:pPr>
            <a:r>
              <a:t>    (assert (sensor-reading (name ?name) (value ?value))) else skip))</a:t>
            </a:r>
          </a:p>
          <a:p>
            <a:pPr>
              <a:defRPr sz="1300"/>
            </a:pPr>
            <a:endParaRPr/>
          </a:p>
          <a:p>
            <a:pPr>
              <a:defRPr sz="1300"/>
            </a:pPr>
            <a:r>
              <a:t>(deffunction run-diagnosis ()</a:t>
            </a:r>
          </a:p>
          <a:p>
            <a:pPr>
              <a:defRPr sz="1300"/>
            </a:pPr>
            <a:r>
              <a:t>  ;; prints numbered symptom menu</a:t>
            </a:r>
          </a:p>
          <a:p>
            <a:pPr>
              <a:defRPr sz="1300"/>
            </a:pPr>
            <a:r>
              <a:t>  ;; loop: read choice, read CF, assert reported-symptom</a:t>
            </a:r>
          </a:p>
          <a:p>
            <a:pPr>
              <a:defRPr sz="1300"/>
            </a:pPr>
            <a:r>
              <a:t>  ;; prompt for 5 quantitative readings (skip with -1)</a:t>
            </a:r>
          </a:p>
          <a:p>
            <a:pPr>
              <a:defRPr sz="1300"/>
            </a:pPr>
            <a:r>
              <a:t>  ;; call (run) to fire all rules)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and Verification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22 test scenarios documented as reproducible CLIPS commands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Strategy and Test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The project kept the asymmetric review approach used by the three-person team.</a:t>
            </a:r>
          </a:p>
          <a:p>
            <a:pPr>
              <a:defRPr sz="1700"/>
            </a:pPr>
            <a:r>
              <a:t>test-cases.txt documents a reproducible CLIPS load and execution procedure rather than only narrative PASS claims.</a:t>
            </a:r>
          </a:p>
          <a:p>
            <a:pPr>
              <a:defRPr sz="1700"/>
            </a:pPr>
            <a:r>
              <a:t>Standard load sequence: (clear), (load "facts.txt"), (load "rules.txt"), optionally (load "driver.clp"), then (reset).</a:t>
            </a:r>
          </a:p>
          <a:p>
            <a:pPr>
              <a:defRPr sz="1700"/>
            </a:pPr>
            <a:r>
              <a:t>Useful inspection commands include (facts), (agenda), (watch rules), and (watch facts).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Coverage: 22 Test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D1 regression tests (4): verify that the crisp baseline still works and that strengthening now behaves correctly.</a:t>
            </a:r>
          </a:p>
          <a:p>
            <a:pPr>
              <a:defRPr sz="1700"/>
            </a:pPr>
            <a:r>
              <a:rPr dirty="0"/>
              <a:t>Certainty Factor tests (6): verify single-evidence and combined-evidence probabilistic behavior.</a:t>
            </a:r>
          </a:p>
          <a:p>
            <a:pPr>
              <a:defRPr sz="1700"/>
            </a:pPr>
            <a:r>
              <a:rPr dirty="0"/>
              <a:t>Fuzzy Logic tests (6): verify fuzzification, membership-based reasoning, and graded outputs.</a:t>
            </a:r>
          </a:p>
          <a:p>
            <a:pPr>
              <a:defRPr sz="1700"/>
            </a:pPr>
            <a:r>
              <a:rPr dirty="0"/>
              <a:t>Cross-theory tests (2): verify that crisp, probabilistic, and fuzzy support can coexist.</a:t>
            </a:r>
          </a:p>
          <a:p>
            <a:pPr>
              <a:defRPr sz="1700"/>
            </a:pPr>
            <a:r>
              <a:rPr dirty="0"/>
              <a:t>Driver integration test (1): verify the user-facing uncertainty input workflow.</a:t>
            </a:r>
          </a:p>
          <a:p>
            <a:pPr>
              <a:defRPr sz="1700"/>
            </a:pPr>
            <a:r>
              <a:rPr dirty="0"/>
              <a:t>Negative and edge-case tests (3): verify behavior for invalid or missing inputs.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Details: D1 Regression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D1.1 Single crisp PSU diagnosis:</a:t>
            </a:r>
          </a:p>
          <a:p>
            <a:pPr lvl="1">
              <a:defRPr sz="1400"/>
            </a:pPr>
            <a:r>
              <a:t>Assert: (reported-symptom (symptom-id no-power-at-all) (observed yes) (user-cf 1.0))</a:t>
            </a:r>
          </a:p>
          <a:p>
            <a:pPr lvl="1">
              <a:defRPr sz="1400"/>
            </a:pPr>
            <a:r>
              <a:t>Run. Expect: crisp psu-failure, label strong, score 0.90.</a:t>
            </a:r>
          </a:p>
          <a:p>
            <a:pPr>
              <a:defRPr sz="1400"/>
            </a:pPr>
            <a:r>
              <a:t>D1.2 Crisp strengthening now works:</a:t>
            </a:r>
          </a:p>
          <a:p>
            <a:pPr lvl="1">
              <a:defRPr sz="1400"/>
            </a:pPr>
            <a:r>
              <a:t>Assert: no-power-at-all and post-beep-codes both with user-cf 1.0.</a:t>
            </a:r>
          </a:p>
          <a:p>
            <a:pPr lvl="1">
              <a:defRPr sz="1400"/>
            </a:pPr>
            <a:r>
              <a:t>Run. Expect: strengthen-crisp-psu-diagnosis fires, score becomes 0.97, label very-strong.</a:t>
            </a:r>
          </a:p>
          <a:p>
            <a:pPr>
              <a:defRPr sz="1400"/>
            </a:pPr>
            <a:r>
              <a:t>D1.3 Crisp storage strengthening:</a:t>
            </a:r>
          </a:p>
          <a:p>
            <a:pPr lvl="1">
              <a:defRPr sz="1400"/>
            </a:pPr>
            <a:r>
              <a:t>Assert: storage-not-detected and boot-device-not-found both with user-cf 1.0.</a:t>
            </a:r>
          </a:p>
          <a:p>
            <a:pPr lvl="1">
              <a:defRPr sz="1400"/>
            </a:pPr>
            <a:r>
              <a:t>Run. Expect: strengthen-crisp-storage-diagnosis fires, label very-strong.</a:t>
            </a:r>
          </a:p>
          <a:p>
            <a:pPr>
              <a:defRPr sz="1400"/>
            </a:pPr>
            <a:r>
              <a:t>D1.4 No evidence helper:</a:t>
            </a:r>
          </a:p>
          <a:p>
            <a:pPr lvl="1">
              <a:defRPr sz="1400"/>
            </a:pPr>
            <a:r>
              <a:t>Run with no assertions. Expect: no-evidence-reported fires and prints usage examples.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Details: Certainty Factor Tests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CF.1 Single probabilistic PSU rule:</a:t>
            </a:r>
          </a:p>
          <a:p>
            <a:pPr lvl="1">
              <a:defRPr sz="1300"/>
            </a:pPr>
            <a:r>
              <a:t>Assert: (reported-symptom (symptom-id no-power-at-all) (observed yes) (user-cf 0.90))</a:t>
            </a:r>
          </a:p>
          <a:p>
            <a:pPr lvl="1">
              <a:defRPr sz="1300"/>
            </a:pPr>
            <a:r>
              <a:t>Run. Expect: cf-psu-failure-from-no-power fires, score ≈ 0.855 (0.90 × 0.95).</a:t>
            </a:r>
          </a:p>
          <a:p>
            <a:pPr>
              <a:defRPr sz="1300"/>
            </a:pPr>
            <a:r>
              <a:t>CF.2 CMOS battery probabilistic rule:</a:t>
            </a:r>
          </a:p>
          <a:p>
            <a:pPr lvl="1">
              <a:defRPr sz="1300"/>
            </a:pPr>
            <a:r>
              <a:t>Assert: (reported-symptom (symptom-id time-date-reset) (observed yes) (user-cf 0.80))</a:t>
            </a:r>
          </a:p>
          <a:p>
            <a:pPr lvl="1">
              <a:defRPr sz="1300"/>
            </a:pPr>
            <a:r>
              <a:t>Run. Expect: cf-cmos-from-clock-reset fires, score ≈ 0.736.</a:t>
            </a:r>
          </a:p>
          <a:p>
            <a:pPr>
              <a:defRPr sz="1300"/>
            </a:pPr>
            <a:r>
              <a:t>CF.3 GPU driver probabilistic rule:</a:t>
            </a:r>
          </a:p>
          <a:p>
            <a:pPr lvl="1">
              <a:defRPr sz="1300"/>
            </a:pPr>
            <a:r>
              <a:t>Assert: (reported-symptom (symptom-id driver-crash-recovery) (observed yes) (user-cf 0.75))</a:t>
            </a:r>
          </a:p>
          <a:p>
            <a:pPr lvl="1">
              <a:defRPr sz="1300"/>
            </a:pPr>
            <a:r>
              <a:t>Run. Expect: cf-gpu-driver-from-crashes fires, score ≈ 0.585.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Details: Certainty Factor Tests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dirty="0"/>
              <a:t>CF.4 Combined PSU evidence:</a:t>
            </a:r>
          </a:p>
          <a:p>
            <a:pPr lvl="1">
              <a:defRPr sz="1400"/>
            </a:pPr>
            <a:r>
              <a:rPr dirty="0"/>
              <a:t>Assert: shutdown-under-load (user-</a:t>
            </a:r>
            <a:r>
              <a:rPr dirty="0" err="1"/>
              <a:t>cf</a:t>
            </a:r>
            <a:r>
              <a:rPr dirty="0"/>
              <a:t> 0.80) and intermittent-power (user-</a:t>
            </a:r>
            <a:r>
              <a:rPr dirty="0" err="1"/>
              <a:t>cf</a:t>
            </a:r>
            <a:r>
              <a:rPr dirty="0"/>
              <a:t> 0.70).</a:t>
            </a:r>
          </a:p>
          <a:p>
            <a:pPr lvl="1">
              <a:defRPr sz="1400"/>
            </a:pPr>
            <a:r>
              <a:rPr dirty="0"/>
              <a:t>Run. Expect: </a:t>
            </a:r>
            <a:r>
              <a:rPr dirty="0" err="1"/>
              <a:t>cf</a:t>
            </a:r>
            <a:r>
              <a:rPr dirty="0"/>
              <a:t>-</a:t>
            </a:r>
            <a:r>
              <a:rPr dirty="0" err="1"/>
              <a:t>psu</a:t>
            </a:r>
            <a:r>
              <a:rPr dirty="0"/>
              <a:t>-combination fires, combined score &gt; either single evidence.</a:t>
            </a:r>
          </a:p>
          <a:p>
            <a:pPr>
              <a:defRPr sz="1400"/>
            </a:pPr>
            <a:r>
              <a:rPr dirty="0"/>
              <a:t>CF.5 Combined GPU evidence:</a:t>
            </a:r>
          </a:p>
          <a:p>
            <a:pPr lvl="1">
              <a:defRPr sz="1400"/>
            </a:pPr>
            <a:r>
              <a:rPr dirty="0"/>
              <a:t>Assert: no-display-output (user-</a:t>
            </a:r>
            <a:r>
              <a:rPr dirty="0" err="1"/>
              <a:t>cf</a:t>
            </a:r>
            <a:r>
              <a:rPr dirty="0"/>
              <a:t> 0.80) and screen-artifacts (user-</a:t>
            </a:r>
            <a:r>
              <a:rPr dirty="0" err="1"/>
              <a:t>cf</a:t>
            </a:r>
            <a:r>
              <a:rPr dirty="0"/>
              <a:t> 0.90).</a:t>
            </a:r>
          </a:p>
          <a:p>
            <a:pPr lvl="1">
              <a:defRPr sz="1400"/>
            </a:pPr>
            <a:r>
              <a:rPr dirty="0"/>
              <a:t>Run. Expect: </a:t>
            </a:r>
            <a:r>
              <a:rPr dirty="0" err="1"/>
              <a:t>cf</a:t>
            </a:r>
            <a:r>
              <a:rPr dirty="0"/>
              <a:t>-</a:t>
            </a:r>
            <a:r>
              <a:rPr dirty="0" err="1"/>
              <a:t>gpu</a:t>
            </a:r>
            <a:r>
              <a:rPr dirty="0"/>
              <a:t>-combination fires, combined score &gt; </a:t>
            </a:r>
            <a:r>
              <a:rPr dirty="0" err="1"/>
              <a:t>cf</a:t>
            </a:r>
            <a:r>
              <a:rPr dirty="0"/>
              <a:t>-</a:t>
            </a:r>
            <a:r>
              <a:rPr dirty="0" err="1"/>
              <a:t>gpu</a:t>
            </a:r>
            <a:r>
              <a:rPr dirty="0"/>
              <a:t>-artifacts alone.</a:t>
            </a:r>
          </a:p>
          <a:p>
            <a:pPr>
              <a:defRPr sz="1400"/>
            </a:pPr>
            <a:r>
              <a:rPr dirty="0"/>
              <a:t>CF.6 Combined storage evidence:</a:t>
            </a:r>
          </a:p>
          <a:p>
            <a:pPr lvl="1">
              <a:defRPr sz="1400"/>
            </a:pPr>
            <a:r>
              <a:rPr dirty="0"/>
              <a:t>Assert: storage-not-detected (user-</a:t>
            </a:r>
            <a:r>
              <a:rPr dirty="0" err="1"/>
              <a:t>cf</a:t>
            </a:r>
            <a:r>
              <a:rPr dirty="0"/>
              <a:t> 0.85) and boot-device-not-found (user-</a:t>
            </a:r>
            <a:r>
              <a:rPr dirty="0" err="1"/>
              <a:t>cf</a:t>
            </a:r>
            <a:r>
              <a:rPr dirty="0"/>
              <a:t> 0.80).</a:t>
            </a:r>
          </a:p>
          <a:p>
            <a:pPr lvl="1">
              <a:defRPr sz="1400"/>
            </a:pPr>
            <a:r>
              <a:rPr dirty="0"/>
              <a:t>Run. Expect: </a:t>
            </a:r>
            <a:r>
              <a:rPr dirty="0" err="1"/>
              <a:t>cf</a:t>
            </a:r>
            <a:r>
              <a:rPr dirty="0"/>
              <a:t>-storage-combination fires with a high combined score.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Details: Fuzzy Logic Tests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FZ.1 CPU critical temperature alone:</a:t>
            </a:r>
          </a:p>
          <a:p>
            <a:pPr lvl="1">
              <a:defRPr sz="1200"/>
            </a:pPr>
            <a:r>
              <a:t>Assert: (sensor-reading (name cpu-temperature) (value 102))</a:t>
            </a:r>
          </a:p>
          <a:p>
            <a:pPr lvl="1">
              <a:defRPr sz="1200"/>
            </a:pPr>
            <a:r>
              <a:t>Run. Expect: fuzzify-reading creates fuzzy-assessment for cpu-temperature critical; fuzzy-cpu-critical fires.</a:t>
            </a:r>
          </a:p>
          <a:p>
            <a:pPr>
              <a:defRPr sz="1200"/>
            </a:pPr>
            <a:r>
              <a:t>FZ.2 Elevated CPU temperature plus freezing:</a:t>
            </a:r>
          </a:p>
          <a:p>
            <a:pPr lvl="1">
              <a:defRPr sz="1200"/>
            </a:pPr>
            <a:r>
              <a:t>Assert: (sensor-reading (name cpu-temperature) (value 78)) and (reported-symptom (symptom-id system-freezes-under-load) (observed yes) (user-cf 0.90))</a:t>
            </a:r>
          </a:p>
          <a:p>
            <a:pPr lvl="1">
              <a:defRPr sz="1200"/>
            </a:pPr>
            <a:r>
              <a:t>Run. Expect: fuzzy-cpu-elevated-and-freezing fires, score = min(elevated-degree, 0.90).</a:t>
            </a:r>
          </a:p>
          <a:p>
            <a:pPr>
              <a:defRPr sz="1200"/>
            </a:pPr>
            <a:r>
              <a:t>FZ.3 Unstable voltage plus shutdown:</a:t>
            </a:r>
          </a:p>
          <a:p>
            <a:pPr lvl="1">
              <a:defRPr sz="1200"/>
            </a:pPr>
            <a:r>
              <a:t>Assert: (sensor-reading (name voltage-stability) (value 35)) and (reported-symptom (symptom-id shutdown-under-load) (observed yes) (user-cf 0.85))</a:t>
            </a:r>
          </a:p>
          <a:p>
            <a:pPr lvl="1">
              <a:defRPr sz="1200"/>
            </a:pPr>
            <a:r>
              <a:t>Run. Expect: fuzzy-voltage-unstable-shutdown fires.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Details: Fuzzy Logic Tests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FZ.4 Hot GPU plus artifacts:</a:t>
            </a:r>
          </a:p>
          <a:p>
            <a:pPr lvl="1">
              <a:defRPr sz="1300"/>
            </a:pPr>
            <a:r>
              <a:t>Assert: (sensor-reading (name gpu-temperature) (value 86)) and (reported-symptom (symptom-id screen-artifacts) (observed yes) (user-cf 0.90))</a:t>
            </a:r>
          </a:p>
          <a:p>
            <a:pPr lvl="1">
              <a:defRPr sz="1300"/>
            </a:pPr>
            <a:r>
              <a:t>Run. Expect: fuzzy-gpu-hot-and-artifacts fires.</a:t>
            </a:r>
          </a:p>
          <a:p>
            <a:pPr>
              <a:defRPr sz="1300"/>
            </a:pPr>
            <a:r>
              <a:t>FZ.5 Poor storage health plus slow drive:</a:t>
            </a:r>
          </a:p>
          <a:p>
            <a:pPr lvl="1">
              <a:defRPr sz="1300"/>
            </a:pPr>
            <a:r>
              <a:t>Assert: (sensor-reading (name storage-health) (value 28)) and (reported-symptom (symptom-id slow-storage-access) (observed yes) (user-cf 0.80))</a:t>
            </a:r>
          </a:p>
          <a:p>
            <a:pPr lvl="1">
              <a:defRPr sz="1300"/>
            </a:pPr>
            <a:r>
              <a:t>Run. Expect: fuzzy-storage-poor-and-slow fires.</a:t>
            </a:r>
          </a:p>
          <a:p>
            <a:pPr>
              <a:defRPr sz="1300"/>
            </a:pPr>
            <a:r>
              <a:t>FZ.6 Severe boot time plus missing boot device:</a:t>
            </a:r>
          </a:p>
          <a:p>
            <a:pPr lvl="1">
              <a:defRPr sz="1300"/>
            </a:pPr>
            <a:r>
              <a:t>Assert: (sensor-reading (name boot-time) (value 95)) and (reported-symptom (symptom-id boot-device-not-found) (observed yes) (user-cf 0.90))</a:t>
            </a:r>
          </a:p>
          <a:p>
            <a:pPr lvl="1">
              <a:defRPr sz="1300"/>
            </a:pPr>
            <a:r>
              <a:t>Run. Expect: fuzzy-boot-severe fires.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Details: Cross-Theory, Driver, and Negative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XT.1 Same scenario supported by multiple theories:</a:t>
            </a:r>
          </a:p>
          <a:p>
            <a:pPr lvl="1">
              <a:defRPr sz="1200"/>
            </a:pPr>
            <a:r>
              <a:t>Assert: system-freezes-under-load (user-cf 0.90) and (sensor-reading cpu-temperature 100).</a:t>
            </a:r>
          </a:p>
          <a:p>
            <a:pPr lvl="1">
              <a:defRPr sz="1200"/>
            </a:pPr>
            <a:r>
              <a:t>Run. Expect: crisp, probabilistic, and fuzzy cpu-overheating conclusions coexist.</a:t>
            </a:r>
          </a:p>
          <a:p>
            <a:pPr>
              <a:defRPr sz="1200"/>
            </a:pPr>
            <a:r>
              <a:t>XT.2 Multiple modules at once:</a:t>
            </a:r>
          </a:p>
          <a:p>
            <a:pPr lvl="1">
              <a:defRPr sz="1200"/>
            </a:pPr>
            <a:r>
              <a:t>Assert: no-power-at-all (0.95), screen-artifacts (0.85), blue-screen-crashes (0.80), and gpu-temperature = 92.</a:t>
            </a:r>
          </a:p>
          <a:p>
            <a:pPr lvl="1">
              <a:defRPr sz="1200"/>
            </a:pPr>
            <a:r>
              <a:t>Run. Expect: diagnoses from power, display, and memory modules coexist without interference.</a:t>
            </a:r>
          </a:p>
          <a:p>
            <a:pPr>
              <a:defRPr sz="1200"/>
            </a:pPr>
            <a:r>
              <a:t>UI.1 Driver integration: load driver.clp, (reset), (run-diagnosis), enter symptoms and readings.</a:t>
            </a:r>
          </a:p>
          <a:p>
            <a:pPr>
              <a:defRPr sz="1200"/>
            </a:pPr>
            <a:r>
              <a:t>NEG.1 Invalid symptom: assert nonexistent-symptom. Expect: session starts but no diagnosis.</a:t>
            </a:r>
          </a:p>
          <a:p>
            <a:pPr>
              <a:defRPr sz="1200"/>
            </a:pPr>
            <a:r>
              <a:t>NEG.2 Observed = no: assert no-power-at-all with observed no. Expect: no symptom-based rules fire.</a:t>
            </a:r>
          </a:p>
          <a:p>
            <a:pPr>
              <a:defRPr sz="1200"/>
            </a:pPr>
            <a:r>
              <a:t>NEG.3 Skipped fuzzy readings: enter −1 in driver. Expect: no sensor-reading asserted, fuzzy rules do not fire for that variable.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D2 Changes Are Independently Verifiable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Every claim in this deck is verifiable against the repository artifacts.</a:t>
            </a:r>
          </a:p>
          <a:p>
            <a:pPr>
              <a:defRPr sz="1700"/>
            </a:pPr>
            <a:r>
              <a:t>facts.txt verifies the extended data model and domain knowledge.</a:t>
            </a:r>
          </a:p>
          <a:p>
            <a:pPr>
              <a:defRPr sz="1700"/>
            </a:pPr>
            <a:r>
              <a:t>rules.txt verifies the crisp, probabilistic, and fuzzy rule additions.</a:t>
            </a:r>
          </a:p>
          <a:p>
            <a:pPr>
              <a:defRPr sz="1700"/>
            </a:pPr>
            <a:r>
              <a:t>driver.clp verifies the new uncertainty input workflow.</a:t>
            </a:r>
          </a:p>
          <a:p>
            <a:pPr>
              <a:defRPr sz="1700"/>
            </a:pPr>
            <a:r>
              <a:t>design.txt verifies the feedback response and quality rationale.</a:t>
            </a:r>
          </a:p>
          <a:p>
            <a:pPr>
              <a:defRPr sz="1700"/>
            </a:pPr>
            <a:r>
              <a:t>test-cases.txt verifies the validation and verification procedure.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Project Files and Their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Knowledge base files</a:t>
            </a:r>
          </a:p>
          <a:p>
            <a:pPr lvl="1">
              <a:defRPr sz="1700"/>
            </a:pPr>
            <a:r>
              <a:rPr dirty="0" err="1"/>
              <a:t>facts.txt</a:t>
            </a:r>
            <a:r>
              <a:rPr dirty="0"/>
              <a:t>: </a:t>
            </a:r>
            <a:r>
              <a:rPr dirty="0" err="1"/>
              <a:t>factbase</a:t>
            </a:r>
            <a:r>
              <a:rPr dirty="0"/>
              <a:t> </a:t>
            </a:r>
            <a:r>
              <a:rPr lang="en-CA" dirty="0"/>
              <a:t>-</a:t>
            </a:r>
            <a:r>
              <a:rPr dirty="0"/>
              <a:t> 13 templates, 15 symptoms, 15 scenarios, 15 indicators, 15 CF facts, 5 fuzzy variables, 15 fuzzy sets</a:t>
            </a:r>
          </a:p>
          <a:p>
            <a:pPr lvl="1">
              <a:defRPr sz="1700"/>
            </a:pPr>
            <a:r>
              <a:rPr dirty="0" err="1"/>
              <a:t>rules.txt</a:t>
            </a:r>
            <a:r>
              <a:rPr dirty="0"/>
              <a:t>: </a:t>
            </a:r>
            <a:r>
              <a:rPr dirty="0" err="1"/>
              <a:t>rulebase</a:t>
            </a:r>
            <a:r>
              <a:rPr dirty="0"/>
              <a:t> </a:t>
            </a:r>
            <a:r>
              <a:rPr lang="en-CA" dirty="0"/>
              <a:t>-</a:t>
            </a:r>
            <a:r>
              <a:rPr dirty="0"/>
              <a:t> 34 rules plus 6 helper functions</a:t>
            </a:r>
          </a:p>
          <a:p>
            <a:pPr lvl="1">
              <a:defRPr sz="1700"/>
            </a:pPr>
            <a:r>
              <a:rPr dirty="0" err="1"/>
              <a:t>driver.clp</a:t>
            </a:r>
            <a:r>
              <a:rPr dirty="0"/>
              <a:t>: interactive diagnosis workflow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1700"/>
            </a:pPr>
            <a:r>
              <a:t>Documentation files</a:t>
            </a:r>
          </a:p>
          <a:p>
            <a:pPr lvl="1">
              <a:defRPr sz="1700"/>
            </a:pPr>
            <a:r>
              <a:t>design.txt: evaluator-facing D2 design and improvement narrative</a:t>
            </a:r>
          </a:p>
          <a:p>
            <a:pPr lvl="1">
              <a:defRPr sz="1700"/>
            </a:pPr>
            <a:r>
              <a:t>test-cases.txt: reproducible validation and verification (22 tests)</a:t>
            </a:r>
          </a:p>
          <a:p>
            <a:pPr lvl="1">
              <a:defRPr sz="1700"/>
            </a:pPr>
            <a:r>
              <a:t>README.md: repository overview and access information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Submission and Key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Repository details</a:t>
            </a:r>
          </a:p>
          <a:p>
            <a:pPr lvl="1">
              <a:defRPr sz="1800"/>
            </a:pPr>
            <a:r>
              <a:rPr dirty="0"/>
              <a:t>GitHub username: sonicman674</a:t>
            </a:r>
          </a:p>
          <a:p>
            <a:pPr lvl="1">
              <a:defRPr sz="1800"/>
            </a:pPr>
            <a:r>
              <a:rPr dirty="0"/>
              <a:t>Repository URL: </a:t>
            </a:r>
            <a:r>
              <a:rPr lang="en-CA" sz="1800" dirty="0">
                <a:hlinkClick r:id="rId2"/>
              </a:rPr>
              <a:t>https://github.com/sonicman674/PC_Hardware_Diagnostic_Expert_System_Stacey_Makary_Oktoro_COMP474</a:t>
            </a:r>
            <a:endParaRPr lang="en-CA" sz="1800" dirty="0"/>
          </a:p>
          <a:p>
            <a:pPr lvl="1">
              <a:defRPr sz="1800"/>
            </a:pPr>
            <a:endParaRPr lang="en-CA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1800"/>
            </a:pPr>
            <a:r>
              <a:t>Key files for grading</a:t>
            </a:r>
          </a:p>
          <a:p>
            <a:pPr lvl="1">
              <a:defRPr sz="1800"/>
            </a:pPr>
            <a:r>
              <a:t>facts.txt</a:t>
            </a:r>
          </a:p>
          <a:p>
            <a:pPr lvl="1">
              <a:defRPr sz="1800"/>
            </a:pPr>
            <a:r>
              <a:t>rules.txt</a:t>
            </a:r>
          </a:p>
          <a:p>
            <a:pPr lvl="1">
              <a:defRPr sz="1800"/>
            </a:pPr>
            <a:r>
              <a:t>driver.clp</a:t>
            </a:r>
          </a:p>
          <a:p>
            <a:pPr lvl="1">
              <a:defRPr sz="1800"/>
            </a:pPr>
            <a:r>
              <a:t>design.txt</a:t>
            </a:r>
          </a:p>
          <a:p>
            <a:pPr lvl="1">
              <a:defRPr sz="1800"/>
            </a:pPr>
            <a:r>
              <a:t>test-cases.txt</a:t>
            </a:r>
          </a:p>
          <a:p>
            <a:pPr lvl="1">
              <a:defRPr sz="1800"/>
            </a:pPr>
            <a:r>
              <a:t>README.md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Deliverable 2 Is Stronger Than Deliverable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It addresses evaluator feedback directly rather than only adding technical complexity.</a:t>
            </a:r>
          </a:p>
          <a:p>
            <a:pPr>
              <a:defRPr sz="1700"/>
            </a:pPr>
            <a:r>
              <a:t>It uses formal theories of uncertainty instead of symbolic confidence labels alone.</a:t>
            </a:r>
          </a:p>
          <a:p>
            <a:pPr>
              <a:defRPr sz="1700"/>
            </a:pPr>
            <a:r>
              <a:t>It makes conclusions traceable through theory, score, rule-id, and rationale.</a:t>
            </a:r>
          </a:p>
          <a:p>
            <a:pPr>
              <a:defRPr sz="1700"/>
            </a:pPr>
            <a:r>
              <a:t>It strengthens independent verification through a reproducible test document.</a:t>
            </a:r>
          </a:p>
          <a:p>
            <a:pPr>
              <a:defRPr sz="1700"/>
            </a:pPr>
            <a:r>
              <a:t>It explains more clearly how the design helps the user and why the knowledge representation has quality.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 URLs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C8F83-5ADE-578D-F4B5-022EA0FFD6CD}"/>
              </a:ext>
            </a:extLst>
          </p:cNvPr>
          <p:cNvSpPr txBox="1"/>
          <p:nvPr/>
        </p:nvSpPr>
        <p:spPr>
          <a:xfrm>
            <a:off x="457199" y="1796010"/>
            <a:ext cx="835046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[1] CLIPS Reference Manual, Version 6.4, Interfaces Guide</a:t>
            </a:r>
          </a:p>
          <a:p>
            <a:r>
              <a:rPr lang="en-CA" sz="1200" dirty="0">
                <a:hlinkClick r:id="rId2"/>
              </a:rPr>
              <a:t>https://www.clipsrules.net/documentation/v642/ig642.pdf</a:t>
            </a:r>
            <a:endParaRPr lang="en-CA" sz="1200" dirty="0"/>
          </a:p>
          <a:p>
            <a:r>
              <a:rPr lang="en-CA" sz="1200" dirty="0"/>
              <a:t>[2] CLIPS 6.4 User's Guide</a:t>
            </a:r>
          </a:p>
          <a:p>
            <a:r>
              <a:rPr lang="en-CA" sz="1200" dirty="0">
                <a:hlinkClick r:id="rId3"/>
              </a:rPr>
              <a:t>https://www.clipsrules.net/documentation/v642/ug642.pdf</a:t>
            </a:r>
            <a:endParaRPr lang="en-CA" sz="1200" dirty="0"/>
          </a:p>
          <a:p>
            <a:r>
              <a:rPr lang="en-CA" sz="1200" dirty="0"/>
              <a:t>[3] CLIPS Reference Manual, Version 6.4, Basic Programming Guide</a:t>
            </a:r>
          </a:p>
          <a:p>
            <a:r>
              <a:rPr lang="en-CA" sz="1200" dirty="0">
                <a:hlinkClick r:id="rId4"/>
              </a:rPr>
              <a:t>https://www.clipsrules.net/documentation/v642/bpg642.pdf</a:t>
            </a:r>
            <a:endParaRPr lang="en-CA" sz="1200" dirty="0"/>
          </a:p>
          <a:p>
            <a:r>
              <a:rPr lang="en-CA" sz="1200" dirty="0"/>
              <a:t>[4] Corsair, </a:t>
            </a:r>
            <a:r>
              <a:rPr lang="en-CA" sz="1200" i="1" dirty="0"/>
              <a:t>How to Test a PSU (Power Supply Unit)</a:t>
            </a:r>
            <a:endParaRPr lang="en-CA" sz="1200" dirty="0"/>
          </a:p>
          <a:p>
            <a:r>
              <a:rPr lang="en-CA" sz="1200" dirty="0">
                <a:hlinkClick r:id="rId5"/>
              </a:rPr>
              <a:t>https://www.corsair.com/ca/en/explorer/diy-builder/power-supply-units/how-to-test-a-psu-power-supply-unit/?srsltid=AfmBOorw2poPsa2xrylx9dER60jnG0xP9v9yaM8HBx_MZT8U19JaHUei</a:t>
            </a:r>
            <a:endParaRPr lang="en-CA" sz="1200" dirty="0"/>
          </a:p>
          <a:p>
            <a:r>
              <a:rPr lang="en-CA" sz="1200" dirty="0"/>
              <a:t>[5] MemTest86, </a:t>
            </a:r>
            <a:r>
              <a:rPr lang="en-CA" sz="1200" i="1" dirty="0"/>
              <a:t>Technical Information</a:t>
            </a:r>
            <a:endParaRPr lang="en-CA" sz="1200" dirty="0"/>
          </a:p>
          <a:p>
            <a:r>
              <a:rPr lang="en-CA" sz="1200" dirty="0">
                <a:hlinkClick r:id="rId6"/>
              </a:rPr>
              <a:t>https://www.memtest86.com/technical.htm</a:t>
            </a:r>
            <a:endParaRPr lang="en-CA" sz="1200" dirty="0"/>
          </a:p>
          <a:p>
            <a:r>
              <a:rPr lang="en-CA" sz="1200" dirty="0"/>
              <a:t>[6] </a:t>
            </a:r>
            <a:r>
              <a:rPr lang="en-CA" sz="1200" dirty="0" err="1"/>
              <a:t>CrystalDiskInfo</a:t>
            </a:r>
            <a:r>
              <a:rPr lang="en-CA" sz="1200" dirty="0"/>
              <a:t>, </a:t>
            </a:r>
            <a:r>
              <a:rPr lang="en-CA" sz="1200" i="1" dirty="0"/>
              <a:t>S.M.A.R.T. HDD/SSD Monitoring Utility</a:t>
            </a:r>
            <a:endParaRPr lang="en-CA" sz="1200" dirty="0"/>
          </a:p>
          <a:p>
            <a:r>
              <a:rPr lang="en-CA" sz="1200" dirty="0">
                <a:hlinkClick r:id="rId7"/>
              </a:rPr>
              <a:t>https://crystalmark.info/en/software/crystaldiskinfo/</a:t>
            </a:r>
            <a:endParaRPr lang="en-CA" sz="1200" dirty="0"/>
          </a:p>
          <a:p>
            <a:r>
              <a:rPr lang="en-CA" sz="1200" dirty="0"/>
              <a:t>[7] HP, </a:t>
            </a:r>
            <a:r>
              <a:rPr lang="en-CA" sz="1200" i="1" dirty="0"/>
              <a:t>Troubleshooting Guide for Business Desktops</a:t>
            </a:r>
            <a:endParaRPr lang="en-CA" sz="1200" dirty="0"/>
          </a:p>
          <a:p>
            <a:r>
              <a:rPr lang="en-CA" sz="1200" dirty="0">
                <a:hlinkClick r:id="rId8"/>
              </a:rPr>
              <a:t>https://h10032.www1.hp.com/ctg/Manual/c00189283.pdf</a:t>
            </a:r>
            <a:endParaRPr lang="en-CA" sz="1200" dirty="0"/>
          </a:p>
          <a:p>
            <a:r>
              <a:rPr lang="en-CA" sz="1200" dirty="0"/>
              <a:t>[8] Dell, </a:t>
            </a:r>
            <a:r>
              <a:rPr lang="en-CA" sz="1200" i="1" dirty="0"/>
              <a:t>Understanding Beep Codes on Dell Desktop PCs</a:t>
            </a:r>
            <a:endParaRPr lang="en-CA" sz="1200" dirty="0"/>
          </a:p>
          <a:p>
            <a:r>
              <a:rPr lang="en-CA" sz="1200" dirty="0">
                <a:hlinkClick r:id="rId9"/>
              </a:rPr>
              <a:t>https://www.dell.com/support/kbdoc/en-ca/000124349/understanding-beep-codes-on-a-dell-desktop-pc</a:t>
            </a:r>
            <a:endParaRPr lang="en-CA" sz="1200" dirty="0"/>
          </a:p>
          <a:p>
            <a:r>
              <a:rPr lang="en-CA" sz="1200" dirty="0"/>
              <a:t>[9] Display Driver Uninstaller (DDU)</a:t>
            </a:r>
          </a:p>
          <a:p>
            <a:r>
              <a:rPr lang="en-CA" sz="1200" dirty="0">
                <a:hlinkClick r:id="rId10"/>
              </a:rPr>
              <a:t>https://www.wagnardsoft.com/display-driver-uninstaller-DDU-</a:t>
            </a:r>
            <a:endParaRPr lang="en-CA" sz="1200" dirty="0"/>
          </a:p>
          <a:p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object 5"/>
          <p:cNvSpPr>
            <a:spLocks/>
          </p:cNvSpPr>
          <p:nvPr/>
        </p:nvSpPr>
        <p:spPr bwMode="auto">
          <a:xfrm>
            <a:off x="303213" y="104775"/>
            <a:ext cx="8662987" cy="812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600"/>
              <a:gd name="T16" fmla="*/ 0 h 21600"/>
              <a:gd name="T17" fmla="*/ 21600 w 21600"/>
              <a:gd name="T18" fmla="*/ 21600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4" name="object 7"/>
          <p:cNvSpPr txBox="1">
            <a:spLocks noChangeArrowheads="1"/>
          </p:cNvSpPr>
          <p:nvPr/>
        </p:nvSpPr>
        <p:spPr bwMode="auto">
          <a:xfrm>
            <a:off x="588963" y="238125"/>
            <a:ext cx="809148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>
            <a:spAutoFit/>
          </a:bodyPr>
          <a:lstStyle>
            <a:lvl1pPr marL="11113">
              <a:spcAft>
                <a:spcPts val="1413"/>
              </a:spcAft>
              <a:buChar char="•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1pPr>
            <a:lvl2pPr marL="685800" indent="-228600">
              <a:spcAft>
                <a:spcPts val="1413"/>
              </a:spcAft>
              <a:buSzPct val="75000"/>
              <a:buFont typeface="StarSymbol"/>
              <a:buChar char="–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2pPr>
            <a:lvl3pPr marL="1143000" indent="-228600"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3pPr>
            <a:lvl4pPr marL="1600200" indent="-228600">
              <a:spcAft>
                <a:spcPts val="1413"/>
              </a:spcAft>
              <a:buSzPct val="75000"/>
              <a:buFont typeface="StarSymbol"/>
              <a:buChar char="–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4pPr>
            <a:lvl5pPr marL="2057400" indent="-228600"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1413"/>
              </a:spcAft>
              <a:buSzPct val="75000"/>
              <a:buFont typeface="StarSymbol"/>
              <a:buChar char="●"/>
              <a:defRPr sz="240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</a:defRPr>
            </a:lvl9pPr>
          </a:lstStyle>
          <a:p>
            <a:pPr algn="ctr" eaLnBrk="1">
              <a:spcAft>
                <a:spcPct val="0"/>
              </a:spcAft>
              <a:buFontTx/>
              <a:buNone/>
            </a:pPr>
            <a:r>
              <a:rPr lang="en-US" altLang="en-US" sz="360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Conclusion</a:t>
            </a:r>
            <a:endParaRPr lang="en-US" altLang="en-US" sz="2800">
              <a:solidFill>
                <a:srgbClr val="FFFFFF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09D897-3BAF-B677-D559-D5C1A78E445F}"/>
              </a:ext>
            </a:extLst>
          </p:cNvPr>
          <p:cNvSpPr txBox="1"/>
          <p:nvPr/>
        </p:nvSpPr>
        <p:spPr>
          <a:xfrm>
            <a:off x="303213" y="1135117"/>
            <a:ext cx="8377237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700"/>
            </a:pPr>
            <a:r>
              <a:rPr lang="en-CA" dirty="0"/>
              <a:t>Deliverable 2 extends the original expert system with both probabilistic and possibilistic uncertainty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/>
            </a:pPr>
            <a:r>
              <a:rPr lang="en-CA" dirty="0"/>
              <a:t>The system now combines the D1 crisp baseline, Certainty Factors, and Fuzzy Logic in one modular CLIPS knowledge base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/>
            </a:pPr>
            <a:r>
              <a:rPr lang="en-CA" dirty="0"/>
              <a:t>The documentation and testing were rewritten in response to the Deliverable 1 feedback so the project is more self-contained and easier to grade independently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/>
            </a:pPr>
            <a:r>
              <a:rPr lang="en-CA" dirty="0"/>
              <a:t>Result: the project is stronger technically, better documented, and better aligned with the course requirements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Default">
  <a:themeElements>
    <a:clrScheme name="Defaul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Default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Microsoft YaHei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Microsoft YaHei" pitchFamily="34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1">
  <a:themeElements>
    <a:clrScheme name="Default 1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Default 1">
      <a:majorFont>
        <a:latin typeface="Tahoma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Microsoft YaHei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Microsoft YaHei" pitchFamily="34" charset="-122"/>
          </a:defRPr>
        </a:defPPr>
      </a:lstStyle>
    </a:lnDef>
  </a:objectDefaults>
  <a:extraClrSchemeLst>
    <a:extraClrScheme>
      <a:clrScheme name="Default 1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Pages>0</Pages>
  <Words>8473</Words>
  <Characters>0</Characters>
  <Application>Microsoft Macintosh PowerPoint</Application>
  <DocSecurity>0</DocSecurity>
  <PresentationFormat>On-screen Show (4:3)</PresentationFormat>
  <Lines>0</Lines>
  <Paragraphs>787</Paragraphs>
  <Slides>89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89</vt:i4>
      </vt:variant>
    </vt:vector>
  </HeadingPairs>
  <TitlesOfParts>
    <vt:vector size="96" baseType="lpstr">
      <vt:lpstr>Arial</vt:lpstr>
      <vt:lpstr>Calibri</vt:lpstr>
      <vt:lpstr>StarSymbol</vt:lpstr>
      <vt:lpstr>Tahoma</vt:lpstr>
      <vt:lpstr>Times New Roman</vt:lpstr>
      <vt:lpstr>Default</vt:lpstr>
      <vt:lpstr>Default 1</vt:lpstr>
      <vt:lpstr>PowerPoint Presentation</vt:lpstr>
      <vt:lpstr>PowerPoint Presentation</vt:lpstr>
      <vt:lpstr>Project Overview</vt:lpstr>
      <vt:lpstr>Administrative and Submission Details</vt:lpstr>
      <vt:lpstr>Submission Note</vt:lpstr>
      <vt:lpstr>Knowledge Domain, Goal, and User</vt:lpstr>
      <vt:lpstr>Goal and SMART Interpretation</vt:lpstr>
      <vt:lpstr>Individual Contributions</vt:lpstr>
      <vt:lpstr>Deliverable 1 Baseline</vt:lpstr>
      <vt:lpstr>Deliverable 1 Baseline: Strengths and Limits</vt:lpstr>
      <vt:lpstr>Deliverable 1 Feedback</vt:lpstr>
      <vt:lpstr>D2 TODO 1(a): Itemized Summary of Needed Improvements</vt:lpstr>
      <vt:lpstr>Main Feedback From D1: Documentation</vt:lpstr>
      <vt:lpstr>Main Feedback From D1: Technical and Verification Issues</vt:lpstr>
      <vt:lpstr>Our Own Assessment of the D1 Feedback</vt:lpstr>
      <vt:lpstr>Deliverable 2 TODO 1: Improvements Made</vt:lpstr>
      <vt:lpstr>D2 TODO 1(b): Changes Made According to the Summary</vt:lpstr>
      <vt:lpstr>Deliverable 2 TODO 1: Independent Verification Map</vt:lpstr>
      <vt:lpstr>Knowledge Base Structure</vt:lpstr>
      <vt:lpstr>Knowledge Base Structure Overview</vt:lpstr>
      <vt:lpstr>Factbase Structure in More Detail</vt:lpstr>
      <vt:lpstr>Key Templates Added or Expanded in D2</vt:lpstr>
      <vt:lpstr>CLIPS Code: Core Deftemplate Definitions I</vt:lpstr>
      <vt:lpstr>CLIPS Code: Core Deftemplate Definitions II</vt:lpstr>
      <vt:lpstr>CLIPS Code: Runtime and Output Templates</vt:lpstr>
      <vt:lpstr>CLIPS Code: Helper Functions I</vt:lpstr>
      <vt:lpstr>CLIPS Code: Helper Functions II</vt:lpstr>
      <vt:lpstr>Rulebase Structure in More Detail</vt:lpstr>
      <vt:lpstr>CLIPS Code: Representative Crisp Rule</vt:lpstr>
      <vt:lpstr>CLIPS Code: Representative Crisp Strengthening Rule</vt:lpstr>
      <vt:lpstr>Naming Scheme and Programming Style</vt:lpstr>
      <vt:lpstr>Complete Knowledge-Base Inventories</vt:lpstr>
      <vt:lpstr>Complete Symptom Catalogue (15 Symptoms)</vt:lpstr>
      <vt:lpstr>Complete Failure Scenario Registry I (1–8)</vt:lpstr>
      <vt:lpstr>Complete Failure Scenario Registry II (9–15)</vt:lpstr>
      <vt:lpstr>Complete Crisp Symptom Indicators (15 Mappings)</vt:lpstr>
      <vt:lpstr>Component Facts (5 Components)</vt:lpstr>
      <vt:lpstr>D2 TODO 2</vt:lpstr>
      <vt:lpstr>D2 TODO 2: Requirement Mapping</vt:lpstr>
      <vt:lpstr>Certainty Factors: Theory and Formula</vt:lpstr>
      <vt:lpstr>Certainty Factors: Facts Added</vt:lpstr>
      <vt:lpstr>Certainty Factors: Complete Evidence Inventory with Weights</vt:lpstr>
      <vt:lpstr>Certainty Factors: CF Evidence Rationales (Representative)</vt:lpstr>
      <vt:lpstr>Certainty Factors: Rules Added</vt:lpstr>
      <vt:lpstr>Certainty Factors: Full Rule Inventory</vt:lpstr>
      <vt:lpstr>CLIPS Code: Representative Certainty Factor Rule</vt:lpstr>
      <vt:lpstr>CLIPS Code: Representative Combination Rule</vt:lpstr>
      <vt:lpstr>D2 TODO 2: How the Probabilistic Layer Extends D1</vt:lpstr>
      <vt:lpstr>Certainty Factors: Worked Example</vt:lpstr>
      <vt:lpstr>D2 TODO 3</vt:lpstr>
      <vt:lpstr>D2 TODO 3: Requirement Mapping</vt:lpstr>
      <vt:lpstr>Fuzzy Logic: Variables and Sets</vt:lpstr>
      <vt:lpstr>Fuzzy Set Parameters: CPU and GPU Temperature</vt:lpstr>
      <vt:lpstr>Fuzzy Set Parameters: Voltage, Storage, and Boot Time</vt:lpstr>
      <vt:lpstr>Fuzzy Logic: Why It Was Needed</vt:lpstr>
      <vt:lpstr>Fuzzy Logic: Inference and Rules</vt:lpstr>
      <vt:lpstr>CLIPS Code: Fuzzification Rule</vt:lpstr>
      <vt:lpstr>CLIPS Code: Representative Fuzzy Rule</vt:lpstr>
      <vt:lpstr>Fuzzy Logic: Worked Example</vt:lpstr>
      <vt:lpstr>Fuzzy Logic: Full Rule Inventory (12 Rules)</vt:lpstr>
      <vt:lpstr>D2 TODO 3: How the Fuzzy Layer Extends D1</vt:lpstr>
      <vt:lpstr>D2 TODO 4</vt:lpstr>
      <vt:lpstr>D2 TODO 4(a): Selected Quality Attributes</vt:lpstr>
      <vt:lpstr>Quality Attributes: Justification</vt:lpstr>
      <vt:lpstr>D2 TODO 4(b): Guidelines Applied to the Overall Factbase F</vt:lpstr>
      <vt:lpstr>D2 TODO 4(b): Guidelines Applied to the Overall Rulebase R</vt:lpstr>
      <vt:lpstr>How Explainability and Maintainability Were Applied</vt:lpstr>
      <vt:lpstr>How Consistency and Traceability Were Applied</vt:lpstr>
      <vt:lpstr>D2 TODO 4(c): Impact of the Guidelines</vt:lpstr>
      <vt:lpstr>Interactive Driver</vt:lpstr>
      <vt:lpstr>Driver: Load and Run Sequence</vt:lpstr>
      <vt:lpstr>Driver: Step 1 - Symptom Selection</vt:lpstr>
      <vt:lpstr>Driver: Step 2 - Quantitative Readings</vt:lpstr>
      <vt:lpstr>Driver: CLIPS Code (key excerpts)</vt:lpstr>
      <vt:lpstr>Validation and Verification</vt:lpstr>
      <vt:lpstr>Review Strategy and Test Procedure</vt:lpstr>
      <vt:lpstr>Testing Coverage: 22 Test Scenarios</vt:lpstr>
      <vt:lpstr>Test Details: D1 Regression Tests</vt:lpstr>
      <vt:lpstr>Test Details: Certainty Factor Tests I</vt:lpstr>
      <vt:lpstr>Test Details: Certainty Factor Tests II</vt:lpstr>
      <vt:lpstr>Test Details: Fuzzy Logic Tests I</vt:lpstr>
      <vt:lpstr>Test Details: Fuzzy Logic Tests II</vt:lpstr>
      <vt:lpstr>Test Details: Cross-Theory, Driver, and Negative Tests</vt:lpstr>
      <vt:lpstr>Why the D2 Changes Are Independently Verifiable</vt:lpstr>
      <vt:lpstr>Main Project Files and Their Roles</vt:lpstr>
      <vt:lpstr>GitHub Submission and Key Artifacts</vt:lpstr>
      <vt:lpstr>Why Deliverable 2 Is Stronger Than Deliverable 1</vt:lpstr>
      <vt:lpstr>Reference URLs</vt:lpstr>
      <vt:lpstr>PowerPoint Presentation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Pankaj Kamthan</dc:creator>
  <cp:lastModifiedBy>Robert Richard Kanatakénhiate Stacey</cp:lastModifiedBy>
  <cp:revision>50</cp:revision>
  <dcterms:created xsi:type="dcterms:W3CDTF">2016-04-06T04:18:14Z</dcterms:created>
  <dcterms:modified xsi:type="dcterms:W3CDTF">2026-04-15T15:47:43Z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1033-9.1.0.4550</vt:lpwstr>
  </property>
</Properties>
</file>